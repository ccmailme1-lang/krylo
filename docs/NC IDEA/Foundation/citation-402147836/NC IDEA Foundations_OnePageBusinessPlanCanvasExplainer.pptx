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dd9cb8f7b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dd9cb8f7b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1ed3fc3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51ed3fc3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dd9cb8f7b_0_2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dd9cb8f7b_0_2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dd9cb8f7b_0_2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dd9cb8f7b_0_2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dd9cb8f7b_0_2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4dd9cb8f7b_0_2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6f1c4283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6f1c4283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f1c4283a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6f1c4283a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f1c4283a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f1c4283a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f1c4283a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6f1c4283a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f1c4283a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f1c4283a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 name="Google Shape;14;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4" name="Google Shape;24;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5"/>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0" name="Google Shape;30;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7"/>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3" name="Google Shape;43;p7"/>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7"/>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 name="Google Shape;45;p7"/>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0"/>
          <p:cNvSpPr/>
          <p:nvPr>
            <p:ph idx="2" type="pic"/>
          </p:nvPr>
        </p:nvSpPr>
        <p:spPr>
          <a:xfrm>
            <a:off x="3887391" y="740569"/>
            <a:ext cx="4629300" cy="3655200"/>
          </a:xfrm>
          <a:prstGeom prst="rect">
            <a:avLst/>
          </a:prstGeom>
          <a:noFill/>
          <a:ln>
            <a:noFill/>
          </a:ln>
        </p:spPr>
      </p:sp>
      <p:sp>
        <p:nvSpPr>
          <p:cNvPr id="64" name="Google Shape;64;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3"/>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82" name="Google Shape;82;p13"/>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83" name="Google Shape;83;p13"/>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84" name="Google Shape;84;p13"/>
          <p:cNvSpPr txBox="1"/>
          <p:nvPr>
            <p:ph type="title"/>
          </p:nvPr>
        </p:nvSpPr>
        <p:spPr>
          <a:xfrm>
            <a:off x="2400250" y="575950"/>
            <a:ext cx="6321600" cy="635400"/>
          </a:xfrm>
          <a:prstGeom prst="rect">
            <a:avLst/>
          </a:prstGeom>
        </p:spPr>
        <p:txBody>
          <a:bodyPr anchorCtr="0" anchor="ctr" bIns="34275" lIns="68575" spcFirstLastPara="1" rIns="68575" wrap="square" tIns="34275">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3"/>
          <p:cNvSpPr txBox="1"/>
          <p:nvPr>
            <p:ph idx="1" type="body"/>
          </p:nvPr>
        </p:nvSpPr>
        <p:spPr>
          <a:xfrm>
            <a:off x="2410112" y="1595776"/>
            <a:ext cx="6321600" cy="3002400"/>
          </a:xfrm>
          <a:prstGeom prst="rect">
            <a:avLst/>
          </a:prstGeom>
        </p:spPr>
        <p:txBody>
          <a:bodyPr anchorCtr="0" anchor="t" bIns="34275" lIns="68575" spcFirstLastPara="1" rIns="68575" wrap="square" tIns="34275">
            <a:normAutofit/>
          </a:bodyPr>
          <a:lstStyle>
            <a:lvl1pPr indent="-361950" lvl="0" marL="457200">
              <a:spcBef>
                <a:spcPts val="800"/>
              </a:spcBef>
              <a:spcAft>
                <a:spcPts val="0"/>
              </a:spcAft>
              <a:buSzPts val="21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86" name="Google Shape;86;p13"/>
          <p:cNvSpPr txBox="1"/>
          <p:nvPr>
            <p:ph idx="12" type="sldNum"/>
          </p:nvPr>
        </p:nvSpPr>
        <p:spPr>
          <a:xfrm>
            <a:off x="8497999" y="4688759"/>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grpSp>
        <p:nvGrpSpPr>
          <p:cNvPr id="91" name="Google Shape;91;p14"/>
          <p:cNvGrpSpPr/>
          <p:nvPr/>
        </p:nvGrpSpPr>
        <p:grpSpPr>
          <a:xfrm>
            <a:off x="420800" y="252450"/>
            <a:ext cx="8302401" cy="4628100"/>
            <a:chOff x="420800" y="252450"/>
            <a:chExt cx="8302401" cy="4628100"/>
          </a:xfrm>
        </p:grpSpPr>
        <p:pic>
          <p:nvPicPr>
            <p:cNvPr id="92" name="Google Shape;92;p14"/>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93" name="Google Shape;93;p14"/>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94" name="Google Shape;94;p14"/>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95" name="Google Shape;95;p14"/>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96" name="Google Shape;96;p14"/>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 name="Google Shape;97;p14"/>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4"/>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9" name="Google Shape;99;p14"/>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100" name="Google Shape;100;p14"/>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101" name="Google Shape;101;p14"/>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102" name="Google Shape;102;p14"/>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103" name="Google Shape;103;p14"/>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104" name="Google Shape;104;p14"/>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105" name="Google Shape;105;p14"/>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t>
              </a:r>
              <a:r>
                <a:rPr b="1" i="1" lang="en" sz="1000">
                  <a:solidFill>
                    <a:srgbClr val="C55A11"/>
                  </a:solidFill>
                </a:rPr>
                <a:t>anything on the market? </a:t>
              </a:r>
              <a:endParaRPr b="1" i="1" sz="1000">
                <a:solidFill>
                  <a:srgbClr val="C55A11"/>
                </a:solidFill>
              </a:endParaRPr>
            </a:p>
          </p:txBody>
        </p:sp>
        <p:sp>
          <p:nvSpPr>
            <p:cNvPr id="106" name="Google Shape;106;p14"/>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107" name="Google Shape;107;p14"/>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108" name="Google Shape;108;p14"/>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Clr>
                  <a:schemeClr val="dk1"/>
                </a:buClr>
                <a:buSzPts val="1100"/>
                <a:buFont typeface="Arial"/>
                <a:buNone/>
              </a:pPr>
              <a:r>
                <a:rPr b="1" i="1" lang="en" sz="1000">
                  <a:solidFill>
                    <a:srgbClr val="C55A11"/>
                  </a:solidFill>
                </a:rPr>
                <a:t>How do I measure my business’s success? </a:t>
              </a:r>
              <a:endParaRPr b="1" i="1" sz="1000">
                <a:solidFill>
                  <a:srgbClr val="C55A11"/>
                </a:solidFill>
              </a:endParaRPr>
            </a:p>
          </p:txBody>
        </p:sp>
        <p:sp>
          <p:nvSpPr>
            <p:cNvPr id="109" name="Google Shape;109;p14"/>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a:t>
              </a:r>
              <a:r>
                <a:rPr b="1" i="1" lang="en" sz="1000">
                  <a:solidFill>
                    <a:srgbClr val="C55A11"/>
                  </a:solidFill>
                </a:rPr>
                <a:t>experiment</a:t>
              </a:r>
              <a:r>
                <a:rPr b="1" i="1" lang="en" sz="1000">
                  <a:solidFill>
                    <a:srgbClr val="C55A11"/>
                  </a:solidFill>
                </a:rPr>
                <a:t> with? </a:t>
              </a:r>
              <a:endParaRPr b="1" i="1" sz="1000">
                <a:solidFill>
                  <a:srgbClr val="C55A11"/>
                </a:solidFill>
              </a:endParaRPr>
            </a:p>
          </p:txBody>
        </p:sp>
        <p:sp>
          <p:nvSpPr>
            <p:cNvPr id="110" name="Google Shape;110;p14"/>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111" name="Google Shape;111;p14"/>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112" name="Google Shape;112;p14"/>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113" name="Google Shape;113;p14"/>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pSp>
        <p:nvGrpSpPr>
          <p:cNvPr id="118" name="Google Shape;118;p15"/>
          <p:cNvGrpSpPr/>
          <p:nvPr/>
        </p:nvGrpSpPr>
        <p:grpSpPr>
          <a:xfrm>
            <a:off x="420800" y="252450"/>
            <a:ext cx="8302401" cy="4628100"/>
            <a:chOff x="420800" y="252450"/>
            <a:chExt cx="8302401" cy="4628100"/>
          </a:xfrm>
        </p:grpSpPr>
        <p:pic>
          <p:nvPicPr>
            <p:cNvPr id="119" name="Google Shape;119;p15"/>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120" name="Google Shape;120;p15"/>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121" name="Google Shape;121;p15"/>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122" name="Google Shape;122;p15"/>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123" name="Google Shape;123;p15"/>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4" name="Google Shape;124;p15"/>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5" name="Google Shape;125;p15"/>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6" name="Google Shape;126;p15"/>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127" name="Google Shape;127;p15"/>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128" name="Google Shape;128;p15"/>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129" name="Google Shape;129;p15"/>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130" name="Google Shape;130;p15"/>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131" name="Google Shape;131;p15"/>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nvSpPr>
        <p:spPr>
          <a:xfrm>
            <a:off x="5401100" y="18879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a:t>
            </a:r>
            <a:endParaRPr b="1" sz="1000">
              <a:solidFill>
                <a:schemeClr val="dk1"/>
              </a:solidFill>
            </a:endParaRPr>
          </a:p>
        </p:txBody>
      </p:sp>
      <p:sp>
        <p:nvSpPr>
          <p:cNvPr id="137" name="Google Shape;137;p16"/>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p16"/>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p16"/>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 name="Google Shape;140;p16"/>
          <p:cNvSpPr txBox="1"/>
          <p:nvPr/>
        </p:nvSpPr>
        <p:spPr>
          <a:xfrm>
            <a:off x="4617350" y="3365675"/>
            <a:ext cx="32610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141" name="Google Shape;141;p16"/>
          <p:cNvSpPr txBox="1"/>
          <p:nvPr/>
        </p:nvSpPr>
        <p:spPr>
          <a:xfrm>
            <a:off x="5401100" y="21715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grpSp>
        <p:nvGrpSpPr>
          <p:cNvPr id="142" name="Google Shape;142;p16"/>
          <p:cNvGrpSpPr/>
          <p:nvPr/>
        </p:nvGrpSpPr>
        <p:grpSpPr>
          <a:xfrm>
            <a:off x="420800" y="299775"/>
            <a:ext cx="8302401" cy="4628100"/>
            <a:chOff x="420800" y="252450"/>
            <a:chExt cx="8302401" cy="4628100"/>
          </a:xfrm>
        </p:grpSpPr>
        <p:pic>
          <p:nvPicPr>
            <p:cNvPr id="143" name="Google Shape;143;p16"/>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144" name="Google Shape;144;p16"/>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145" name="Google Shape;145;p16"/>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146" name="Google Shape;146;p16"/>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147" name="Google Shape;147;p16"/>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8" name="Google Shape;148;p16"/>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9" name="Google Shape;149;p16"/>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p16"/>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151" name="Google Shape;151;p16"/>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152" name="Google Shape;152;p16"/>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153" name="Google Shape;153;p16"/>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154" name="Google Shape;154;p16"/>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155" name="Google Shape;155;p16"/>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156" name="Google Shape;156;p16"/>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157" name="Google Shape;157;p16"/>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158" name="Google Shape;158;p16"/>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159" name="Google Shape;159;p16"/>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160" name="Google Shape;160;p16"/>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161" name="Google Shape;161;p16"/>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162" name="Google Shape;162;p16"/>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163" name="Google Shape;163;p16"/>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164" name="Google Shape;164;p16"/>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sp>
        <p:nvSpPr>
          <p:cNvPr id="165" name="Google Shape;165;p16"/>
          <p:cNvSpPr/>
          <p:nvPr/>
        </p:nvSpPr>
        <p:spPr>
          <a:xfrm>
            <a:off x="364705" y="160895"/>
            <a:ext cx="3195475" cy="1584525"/>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
        <p:nvSpPr>
          <p:cNvPr id="166" name="Google Shape;166;p16"/>
          <p:cNvSpPr/>
          <p:nvPr/>
        </p:nvSpPr>
        <p:spPr>
          <a:xfrm rot="10800000">
            <a:off x="3008275" y="1735525"/>
            <a:ext cx="5017200" cy="2671800"/>
          </a:xfrm>
          <a:prstGeom prst="wedgeRectCallout">
            <a:avLst>
              <a:gd fmla="val 37002" name="adj1"/>
              <a:gd fmla="val 74014"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7" name="Google Shape;167;p16"/>
          <p:cNvSpPr txBox="1"/>
          <p:nvPr/>
        </p:nvSpPr>
        <p:spPr>
          <a:xfrm>
            <a:off x="3060775" y="1847725"/>
            <a:ext cx="49122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What problem have I observed in the market? </a:t>
            </a:r>
            <a:r>
              <a:rPr lang="en" sz="2100">
                <a:solidFill>
                  <a:schemeClr val="dk1"/>
                </a:solidFill>
                <a:latin typeface="Calibri"/>
                <a:ea typeface="Calibri"/>
                <a:cs typeface="Calibri"/>
                <a:sym typeface="Calibri"/>
              </a:rPr>
              <a:t>Why does my business exist– what do my customers need?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are their challenges?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happens if they don’t solve this problem?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How have they tried to solve this problem?</a:t>
            </a:r>
            <a:endParaRPr sz="2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nvSpPr>
        <p:spPr>
          <a:xfrm>
            <a:off x="5401100" y="18879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a:t>
            </a:r>
            <a:endParaRPr b="1" sz="1000">
              <a:solidFill>
                <a:schemeClr val="dk1"/>
              </a:solidFill>
            </a:endParaRPr>
          </a:p>
        </p:txBody>
      </p:sp>
      <p:sp>
        <p:nvSpPr>
          <p:cNvPr id="173" name="Google Shape;173;p17"/>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 name="Google Shape;174;p17"/>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5" name="Google Shape;175;p17"/>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 name="Google Shape;176;p17"/>
          <p:cNvSpPr txBox="1"/>
          <p:nvPr/>
        </p:nvSpPr>
        <p:spPr>
          <a:xfrm>
            <a:off x="5401100" y="21715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grpSp>
        <p:nvGrpSpPr>
          <p:cNvPr id="177" name="Google Shape;177;p17"/>
          <p:cNvGrpSpPr/>
          <p:nvPr/>
        </p:nvGrpSpPr>
        <p:grpSpPr>
          <a:xfrm>
            <a:off x="420800" y="183175"/>
            <a:ext cx="8302401" cy="4628100"/>
            <a:chOff x="420800" y="252450"/>
            <a:chExt cx="8302401" cy="4628100"/>
          </a:xfrm>
        </p:grpSpPr>
        <p:pic>
          <p:nvPicPr>
            <p:cNvPr id="178" name="Google Shape;178;p17"/>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179" name="Google Shape;179;p17"/>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180" name="Google Shape;180;p17"/>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181" name="Google Shape;181;p17"/>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182" name="Google Shape;182;p17"/>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3" name="Google Shape;183;p17"/>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4" name="Google Shape;184;p17"/>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5" name="Google Shape;185;p17"/>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186" name="Google Shape;186;p17"/>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187" name="Google Shape;187;p17"/>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188" name="Google Shape;188;p17"/>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189" name="Google Shape;189;p17"/>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190" name="Google Shape;190;p17"/>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191" name="Google Shape;191;p17"/>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192" name="Google Shape;192;p17"/>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193" name="Google Shape;193;p17"/>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194" name="Google Shape;194;p17"/>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195" name="Google Shape;195;p17"/>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196" name="Google Shape;196;p17"/>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197" name="Google Shape;197;p17"/>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198" name="Google Shape;198;p17"/>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199" name="Google Shape;199;p17"/>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sp>
        <p:nvSpPr>
          <p:cNvPr id="200" name="Google Shape;200;p17"/>
          <p:cNvSpPr/>
          <p:nvPr/>
        </p:nvSpPr>
        <p:spPr>
          <a:xfrm>
            <a:off x="213280" y="3172095"/>
            <a:ext cx="3195475" cy="1584525"/>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grpSp>
        <p:nvGrpSpPr>
          <p:cNvPr id="201" name="Google Shape;201;p17"/>
          <p:cNvGrpSpPr/>
          <p:nvPr/>
        </p:nvGrpSpPr>
        <p:grpSpPr>
          <a:xfrm>
            <a:off x="3066150" y="359300"/>
            <a:ext cx="5222400" cy="2812800"/>
            <a:chOff x="2992525" y="1293750"/>
            <a:chExt cx="5222400" cy="2812800"/>
          </a:xfrm>
        </p:grpSpPr>
        <p:sp>
          <p:nvSpPr>
            <p:cNvPr id="202" name="Google Shape;202;p17"/>
            <p:cNvSpPr/>
            <p:nvPr/>
          </p:nvSpPr>
          <p:spPr>
            <a:xfrm>
              <a:off x="2992525" y="1293750"/>
              <a:ext cx="5222400" cy="2812800"/>
            </a:xfrm>
            <a:prstGeom prst="wedgeRectCallout">
              <a:avLst>
                <a:gd fmla="val -40798" name="adj1"/>
                <a:gd fmla="val 72867"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3" name="Google Shape;203;p17"/>
            <p:cNvSpPr txBox="1"/>
            <p:nvPr/>
          </p:nvSpPr>
          <p:spPr>
            <a:xfrm>
              <a:off x="3079375" y="1476450"/>
              <a:ext cx="50487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What is my ideal outcome?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When I imagine day-to-day work in my business, how do I spend my time?</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might my customer/revenue goals be in the next year?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does success look like to me in 5 years?</a:t>
              </a:r>
              <a:endParaRPr sz="2100">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pSp>
        <p:nvGrpSpPr>
          <p:cNvPr id="208" name="Google Shape;208;p18"/>
          <p:cNvGrpSpPr/>
          <p:nvPr/>
        </p:nvGrpSpPr>
        <p:grpSpPr>
          <a:xfrm>
            <a:off x="420800" y="252450"/>
            <a:ext cx="8302401" cy="4628100"/>
            <a:chOff x="420800" y="252450"/>
            <a:chExt cx="8302401" cy="4628100"/>
          </a:xfrm>
        </p:grpSpPr>
        <p:pic>
          <p:nvPicPr>
            <p:cNvPr id="209" name="Google Shape;209;p18"/>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210" name="Google Shape;210;p18"/>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211" name="Google Shape;211;p18"/>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212" name="Google Shape;212;p18"/>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213" name="Google Shape;213;p18"/>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4" name="Google Shape;214;p18"/>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5" name="Google Shape;215;p18"/>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6" name="Google Shape;216;p18"/>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217" name="Google Shape;217;p18"/>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218" name="Google Shape;218;p18"/>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219" name="Google Shape;219;p18"/>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220" name="Google Shape;220;p18"/>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221" name="Google Shape;221;p18"/>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222" name="Google Shape;222;p18"/>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223" name="Google Shape;223;p18"/>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224" name="Google Shape;224;p18"/>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225" name="Google Shape;225;p18"/>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226" name="Google Shape;226;p18"/>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227" name="Google Shape;227;p18"/>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228" name="Google Shape;228;p18"/>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229" name="Google Shape;229;p18"/>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230" name="Google Shape;230;p18"/>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grpSp>
        <p:nvGrpSpPr>
          <p:cNvPr id="231" name="Google Shape;231;p18"/>
          <p:cNvGrpSpPr/>
          <p:nvPr/>
        </p:nvGrpSpPr>
        <p:grpSpPr>
          <a:xfrm>
            <a:off x="823975" y="1024013"/>
            <a:ext cx="5322300" cy="3095475"/>
            <a:chOff x="946600" y="1365950"/>
            <a:chExt cx="5322300" cy="3095475"/>
          </a:xfrm>
        </p:grpSpPr>
        <p:sp>
          <p:nvSpPr>
            <p:cNvPr id="232" name="Google Shape;232;p18"/>
            <p:cNvSpPr/>
            <p:nvPr/>
          </p:nvSpPr>
          <p:spPr>
            <a:xfrm>
              <a:off x="946600" y="1365950"/>
              <a:ext cx="5322300" cy="2829600"/>
            </a:xfrm>
            <a:prstGeom prst="wedgeRectCallout">
              <a:avLst>
                <a:gd fmla="val 63045" name="adj1"/>
                <a:gd fmla="val 4335"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18"/>
            <p:cNvSpPr txBox="1"/>
            <p:nvPr/>
          </p:nvSpPr>
          <p:spPr>
            <a:xfrm>
              <a:off x="1456750" y="1413725"/>
              <a:ext cx="4302000" cy="304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Who is your ideal customer? Whose problem are you solving?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i="1" lang="en" sz="2100">
                  <a:solidFill>
                    <a:schemeClr val="dk1"/>
                  </a:solidFill>
                  <a:latin typeface="Calibri"/>
                  <a:ea typeface="Calibri"/>
                  <a:cs typeface="Calibri"/>
                  <a:sym typeface="Calibri"/>
                </a:rPr>
                <a:t>Get specific. </a:t>
              </a:r>
              <a:endParaRPr i="1"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pain points do they have?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are their characteristics?</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does their day-to-day look like?</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*Are there other important stakeholders? Will you have users who are not customers? </a:t>
              </a: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234" name="Google Shape;234;p18"/>
          <p:cNvSpPr/>
          <p:nvPr/>
        </p:nvSpPr>
        <p:spPr>
          <a:xfrm rot="5569530">
            <a:off x="6121701" y="763645"/>
            <a:ext cx="3195845" cy="1851866"/>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19"/>
          <p:cNvGrpSpPr/>
          <p:nvPr/>
        </p:nvGrpSpPr>
        <p:grpSpPr>
          <a:xfrm>
            <a:off x="420800" y="252450"/>
            <a:ext cx="8302401" cy="4628100"/>
            <a:chOff x="420800" y="252450"/>
            <a:chExt cx="8302401" cy="4628100"/>
          </a:xfrm>
        </p:grpSpPr>
        <p:pic>
          <p:nvPicPr>
            <p:cNvPr id="240" name="Google Shape;240;p19"/>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241" name="Google Shape;241;p19"/>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242" name="Google Shape;242;p19"/>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243" name="Google Shape;243;p19"/>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244" name="Google Shape;244;p19"/>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19"/>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6" name="Google Shape;246;p19"/>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7" name="Google Shape;247;p19"/>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248" name="Google Shape;248;p19"/>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249" name="Google Shape;249;p19"/>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250" name="Google Shape;250;p19"/>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251" name="Google Shape;251;p19"/>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252" name="Google Shape;252;p19"/>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253" name="Google Shape;253;p19"/>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254" name="Google Shape;254;p19"/>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255" name="Google Shape;255;p19"/>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256" name="Google Shape;256;p19"/>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257" name="Google Shape;257;p19"/>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258" name="Google Shape;258;p19"/>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259" name="Google Shape;259;p19"/>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260" name="Google Shape;260;p19"/>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261" name="Google Shape;261;p19"/>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grpSp>
        <p:nvGrpSpPr>
          <p:cNvPr id="262" name="Google Shape;262;p19"/>
          <p:cNvGrpSpPr/>
          <p:nvPr/>
        </p:nvGrpSpPr>
        <p:grpSpPr>
          <a:xfrm>
            <a:off x="634691" y="1024025"/>
            <a:ext cx="3937438" cy="2829600"/>
            <a:chOff x="711618" y="1365950"/>
            <a:chExt cx="5322300" cy="2829600"/>
          </a:xfrm>
        </p:grpSpPr>
        <p:sp>
          <p:nvSpPr>
            <p:cNvPr id="263" name="Google Shape;263;p19"/>
            <p:cNvSpPr/>
            <p:nvPr/>
          </p:nvSpPr>
          <p:spPr>
            <a:xfrm>
              <a:off x="711618" y="1365950"/>
              <a:ext cx="5322300" cy="2829600"/>
            </a:xfrm>
            <a:prstGeom prst="wedgeRectCallout">
              <a:avLst>
                <a:gd fmla="val 63045" name="adj1"/>
                <a:gd fmla="val 4335"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Calibri"/>
                <a:ea typeface="Calibri"/>
                <a:cs typeface="Calibri"/>
                <a:sym typeface="Calibri"/>
              </a:endParaRPr>
            </a:p>
          </p:txBody>
        </p:sp>
        <p:sp>
          <p:nvSpPr>
            <p:cNvPr id="264" name="Google Shape;264;p19"/>
            <p:cNvSpPr txBox="1"/>
            <p:nvPr/>
          </p:nvSpPr>
          <p:spPr>
            <a:xfrm>
              <a:off x="1456750" y="1413725"/>
              <a:ext cx="4302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265" name="Google Shape;265;p19"/>
          <p:cNvSpPr/>
          <p:nvPr/>
        </p:nvSpPr>
        <p:spPr>
          <a:xfrm rot="-10478732">
            <a:off x="5095003" y="1681397"/>
            <a:ext cx="2102530" cy="1770213"/>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
        <p:nvSpPr>
          <p:cNvPr id="266" name="Google Shape;266;p19"/>
          <p:cNvSpPr txBox="1"/>
          <p:nvPr/>
        </p:nvSpPr>
        <p:spPr>
          <a:xfrm>
            <a:off x="809925" y="1082325"/>
            <a:ext cx="35973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What is necessary to establish your business and start operating? What does it cost to deliver your offering to any given customer?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What is your business model– what does  your customer pay for?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pSp>
        <p:nvGrpSpPr>
          <p:cNvPr id="271" name="Google Shape;271;p20"/>
          <p:cNvGrpSpPr/>
          <p:nvPr/>
        </p:nvGrpSpPr>
        <p:grpSpPr>
          <a:xfrm>
            <a:off x="420800" y="252450"/>
            <a:ext cx="8302401" cy="4628100"/>
            <a:chOff x="420800" y="252450"/>
            <a:chExt cx="8302401" cy="4628100"/>
          </a:xfrm>
        </p:grpSpPr>
        <p:pic>
          <p:nvPicPr>
            <p:cNvPr id="272" name="Google Shape;272;p20"/>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273" name="Google Shape;273;p20"/>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274" name="Google Shape;274;p20"/>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275" name="Google Shape;275;p20"/>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276" name="Google Shape;276;p20"/>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7" name="Google Shape;277;p20"/>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8" name="Google Shape;278;p20"/>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20"/>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280" name="Google Shape;280;p20"/>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281" name="Google Shape;281;p20"/>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282" name="Google Shape;282;p20"/>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283" name="Google Shape;283;p20"/>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284" name="Google Shape;284;p20"/>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285" name="Google Shape;285;p20"/>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286" name="Google Shape;286;p20"/>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287" name="Google Shape;287;p20"/>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288" name="Google Shape;288;p20"/>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289" name="Google Shape;289;p20"/>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290" name="Google Shape;290;p20"/>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291" name="Google Shape;291;p20"/>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292" name="Google Shape;292;p20"/>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293" name="Google Shape;293;p20"/>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grpSp>
        <p:nvGrpSpPr>
          <p:cNvPr id="294" name="Google Shape;294;p20"/>
          <p:cNvGrpSpPr/>
          <p:nvPr/>
        </p:nvGrpSpPr>
        <p:grpSpPr>
          <a:xfrm>
            <a:off x="634566" y="813650"/>
            <a:ext cx="3937438" cy="2829600"/>
            <a:chOff x="711618" y="1365950"/>
            <a:chExt cx="5322300" cy="2829600"/>
          </a:xfrm>
        </p:grpSpPr>
        <p:sp>
          <p:nvSpPr>
            <p:cNvPr id="295" name="Google Shape;295;p20"/>
            <p:cNvSpPr/>
            <p:nvPr/>
          </p:nvSpPr>
          <p:spPr>
            <a:xfrm>
              <a:off x="711618" y="1365950"/>
              <a:ext cx="5322300" cy="2829600"/>
            </a:xfrm>
            <a:prstGeom prst="wedgeRectCallout">
              <a:avLst>
                <a:gd fmla="val 62645" name="adj1"/>
                <a:gd fmla="val -28572"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6" name="Google Shape;296;p20"/>
            <p:cNvSpPr txBox="1"/>
            <p:nvPr/>
          </p:nvSpPr>
          <p:spPr>
            <a:xfrm>
              <a:off x="1456750" y="1413725"/>
              <a:ext cx="4302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297" name="Google Shape;297;p20"/>
          <p:cNvSpPr/>
          <p:nvPr/>
        </p:nvSpPr>
        <p:spPr>
          <a:xfrm rot="-10478732">
            <a:off x="5063453" y="166747"/>
            <a:ext cx="2102530" cy="1770213"/>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
        <p:nvSpPr>
          <p:cNvPr id="298" name="Google Shape;298;p20"/>
          <p:cNvSpPr txBox="1"/>
          <p:nvPr/>
        </p:nvSpPr>
        <p:spPr>
          <a:xfrm>
            <a:off x="683325" y="871948"/>
            <a:ext cx="37344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Where do your target customers congregate, online or in the real world? How do they engage with or access similar solutions? What partners might help you to connect with your customers? What marketing strategies work well for your audience?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grpSp>
        <p:nvGrpSpPr>
          <p:cNvPr id="303" name="Google Shape;303;p21"/>
          <p:cNvGrpSpPr/>
          <p:nvPr/>
        </p:nvGrpSpPr>
        <p:grpSpPr>
          <a:xfrm>
            <a:off x="420800" y="252450"/>
            <a:ext cx="8302401" cy="4628100"/>
            <a:chOff x="420800" y="252450"/>
            <a:chExt cx="8302401" cy="4628100"/>
          </a:xfrm>
        </p:grpSpPr>
        <p:pic>
          <p:nvPicPr>
            <p:cNvPr id="304" name="Google Shape;304;p21"/>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305" name="Google Shape;305;p21"/>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306" name="Google Shape;306;p21"/>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307" name="Google Shape;307;p21"/>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308" name="Google Shape;308;p21"/>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p21"/>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0" name="Google Shape;310;p21"/>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1" name="Google Shape;311;p21"/>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312" name="Google Shape;312;p21"/>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313" name="Google Shape;313;p21"/>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314" name="Google Shape;314;p21"/>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315" name="Google Shape;315;p21"/>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316" name="Google Shape;316;p21"/>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317" name="Google Shape;317;p21"/>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318" name="Google Shape;318;p21"/>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319" name="Google Shape;319;p21"/>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320" name="Google Shape;320;p21"/>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321" name="Google Shape;321;p21"/>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322" name="Google Shape;322;p21"/>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323" name="Google Shape;323;p21"/>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324" name="Google Shape;324;p21"/>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325" name="Google Shape;325;p21"/>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grpSp>
        <p:nvGrpSpPr>
          <p:cNvPr id="326" name="Google Shape;326;p21"/>
          <p:cNvGrpSpPr/>
          <p:nvPr/>
        </p:nvGrpSpPr>
        <p:grpSpPr>
          <a:xfrm>
            <a:off x="1388463" y="2746950"/>
            <a:ext cx="5132826" cy="1958649"/>
            <a:chOff x="711618" y="1365950"/>
            <a:chExt cx="5322300" cy="2829600"/>
          </a:xfrm>
        </p:grpSpPr>
        <p:sp>
          <p:nvSpPr>
            <p:cNvPr id="327" name="Google Shape;327;p21"/>
            <p:cNvSpPr/>
            <p:nvPr/>
          </p:nvSpPr>
          <p:spPr>
            <a:xfrm>
              <a:off x="711618" y="1365950"/>
              <a:ext cx="5322300" cy="2829600"/>
            </a:xfrm>
            <a:prstGeom prst="wedgeRectCallout">
              <a:avLst>
                <a:gd fmla="val 14961" name="adj1"/>
                <a:gd fmla="val -74787"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8" name="Google Shape;328;p21"/>
            <p:cNvSpPr txBox="1"/>
            <p:nvPr/>
          </p:nvSpPr>
          <p:spPr>
            <a:xfrm>
              <a:off x="1456750" y="1413725"/>
              <a:ext cx="4302000" cy="12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329" name="Google Shape;329;p21"/>
          <p:cNvSpPr/>
          <p:nvPr/>
        </p:nvSpPr>
        <p:spPr>
          <a:xfrm rot="-10478732">
            <a:off x="3410219" y="197764"/>
            <a:ext cx="2102530" cy="2033758"/>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
        <p:nvSpPr>
          <p:cNvPr id="330" name="Google Shape;330;p21"/>
          <p:cNvSpPr txBox="1"/>
          <p:nvPr/>
        </p:nvSpPr>
        <p:spPr>
          <a:xfrm>
            <a:off x="1470850" y="2828375"/>
            <a:ext cx="4924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Why do your customers engage with your offering over any other alternative? What makes you stand out</a:t>
            </a:r>
            <a:r>
              <a:rPr lang="en" sz="1800">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or sets you apart from your competition? What is the core value your customer gets from working with you?</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p22"/>
          <p:cNvGrpSpPr/>
          <p:nvPr/>
        </p:nvGrpSpPr>
        <p:grpSpPr>
          <a:xfrm>
            <a:off x="420800" y="252450"/>
            <a:ext cx="8302401" cy="4628100"/>
            <a:chOff x="420800" y="252450"/>
            <a:chExt cx="8302401" cy="4628100"/>
          </a:xfrm>
        </p:grpSpPr>
        <p:pic>
          <p:nvPicPr>
            <p:cNvPr id="336" name="Google Shape;336;p22"/>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337" name="Google Shape;337;p22"/>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338" name="Google Shape;338;p22"/>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339" name="Google Shape;339;p22"/>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340" name="Google Shape;340;p22"/>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1" name="Google Shape;341;p22"/>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2" name="Google Shape;342;p22"/>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3" name="Google Shape;343;p22"/>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344" name="Google Shape;344;p22"/>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345" name="Google Shape;345;p22"/>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346" name="Google Shape;346;p22"/>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347" name="Google Shape;347;p22"/>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348" name="Google Shape;348;p22"/>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349" name="Google Shape;349;p22"/>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350" name="Google Shape;350;p22"/>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351" name="Google Shape;351;p22"/>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352" name="Google Shape;352;p22"/>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353" name="Google Shape;353;p22"/>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354" name="Google Shape;354;p22"/>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355" name="Google Shape;355;p22"/>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356" name="Google Shape;356;p22"/>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357" name="Google Shape;357;p22"/>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grpSp>
        <p:nvGrpSpPr>
          <p:cNvPr id="358" name="Google Shape;358;p22"/>
          <p:cNvGrpSpPr/>
          <p:nvPr/>
        </p:nvGrpSpPr>
        <p:grpSpPr>
          <a:xfrm>
            <a:off x="2117593" y="1072900"/>
            <a:ext cx="6556386" cy="2749211"/>
            <a:chOff x="1467664" y="-1052497"/>
            <a:chExt cx="6798409" cy="3971700"/>
          </a:xfrm>
        </p:grpSpPr>
        <p:sp>
          <p:nvSpPr>
            <p:cNvPr id="359" name="Google Shape;359;p22"/>
            <p:cNvSpPr/>
            <p:nvPr/>
          </p:nvSpPr>
          <p:spPr>
            <a:xfrm>
              <a:off x="4012673" y="-1052497"/>
              <a:ext cx="4253400" cy="3971700"/>
            </a:xfrm>
            <a:prstGeom prst="wedgeRectCallout">
              <a:avLst>
                <a:gd fmla="val -68890" name="adj1"/>
                <a:gd fmla="val -14419"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0" name="Google Shape;360;p22"/>
            <p:cNvSpPr txBox="1"/>
            <p:nvPr/>
          </p:nvSpPr>
          <p:spPr>
            <a:xfrm>
              <a:off x="1467664" y="1365943"/>
              <a:ext cx="4302000" cy="12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361" name="Google Shape;361;p22"/>
          <p:cNvSpPr/>
          <p:nvPr/>
        </p:nvSpPr>
        <p:spPr>
          <a:xfrm rot="-10478732">
            <a:off x="1811419" y="1554876"/>
            <a:ext cx="2102530" cy="2033758"/>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sp>
        <p:nvSpPr>
          <p:cNvPr id="362" name="Google Shape;362;p22"/>
          <p:cNvSpPr txBox="1"/>
          <p:nvPr/>
        </p:nvSpPr>
        <p:spPr>
          <a:xfrm>
            <a:off x="4973450" y="1072898"/>
            <a:ext cx="34938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What is the final result that a customer gets from your offering (even psychological or emotional outcomes)? How can you measure that result? What other metrics are important for you to monitor the success of your business? </a:t>
            </a:r>
            <a:r>
              <a:rPr lang="en" sz="1800">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3"/>
          <p:cNvSpPr txBox="1"/>
          <p:nvPr/>
        </p:nvSpPr>
        <p:spPr>
          <a:xfrm>
            <a:off x="5401100" y="18879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a:t>
            </a:r>
            <a:endParaRPr b="1" sz="1000">
              <a:solidFill>
                <a:schemeClr val="dk1"/>
              </a:solidFill>
            </a:endParaRPr>
          </a:p>
        </p:txBody>
      </p:sp>
      <p:sp>
        <p:nvSpPr>
          <p:cNvPr id="368" name="Google Shape;368;p23"/>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9" name="Google Shape;369;p23"/>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0" name="Google Shape;370;p23"/>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1" name="Google Shape;371;p23"/>
          <p:cNvSpPr txBox="1"/>
          <p:nvPr/>
        </p:nvSpPr>
        <p:spPr>
          <a:xfrm>
            <a:off x="5401100" y="21715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grpSp>
        <p:nvGrpSpPr>
          <p:cNvPr id="372" name="Google Shape;372;p23"/>
          <p:cNvGrpSpPr/>
          <p:nvPr/>
        </p:nvGrpSpPr>
        <p:grpSpPr>
          <a:xfrm>
            <a:off x="420800" y="183175"/>
            <a:ext cx="8302401" cy="4628100"/>
            <a:chOff x="420800" y="252450"/>
            <a:chExt cx="8302401" cy="4628100"/>
          </a:xfrm>
        </p:grpSpPr>
        <p:pic>
          <p:nvPicPr>
            <p:cNvPr id="373" name="Google Shape;373;p23"/>
            <p:cNvPicPr preferRelativeResize="0"/>
            <p:nvPr/>
          </p:nvPicPr>
          <p:blipFill rotWithShape="1">
            <a:blip r:embed="rId3">
              <a:alphaModFix/>
            </a:blip>
            <a:srcRect b="3763" l="0" r="0" t="3559"/>
            <a:stretch/>
          </p:blipFill>
          <p:spPr>
            <a:xfrm>
              <a:off x="420800" y="252450"/>
              <a:ext cx="8302401" cy="4628100"/>
            </a:xfrm>
            <a:prstGeom prst="rect">
              <a:avLst/>
            </a:prstGeom>
            <a:noFill/>
            <a:ln>
              <a:noFill/>
            </a:ln>
          </p:spPr>
        </p:pic>
        <p:sp>
          <p:nvSpPr>
            <p:cNvPr id="374" name="Google Shape;374;p23"/>
            <p:cNvSpPr txBox="1"/>
            <p:nvPr/>
          </p:nvSpPr>
          <p:spPr>
            <a:xfrm>
              <a:off x="7026300"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TARGET CUSTOMER</a:t>
              </a:r>
              <a:endParaRPr b="1" sz="1000">
                <a:solidFill>
                  <a:schemeClr val="dk1"/>
                </a:solidFill>
              </a:endParaRPr>
            </a:p>
            <a:p>
              <a:pPr indent="0" lvl="0" marL="0" rtl="0" algn="l">
                <a:spcBef>
                  <a:spcPts val="0"/>
                </a:spcBef>
                <a:spcAft>
                  <a:spcPts val="0"/>
                </a:spcAft>
                <a:buNone/>
              </a:pPr>
              <a:r>
                <a:rPr b="1" lang="en" sz="1000">
                  <a:solidFill>
                    <a:schemeClr val="dk1"/>
                  </a:solidFill>
                </a:rPr>
                <a:t>PROFILES</a:t>
              </a:r>
              <a:endParaRPr b="1" sz="1000">
                <a:solidFill>
                  <a:schemeClr val="dk1"/>
                </a:solidFill>
              </a:endParaRPr>
            </a:p>
          </p:txBody>
        </p:sp>
        <p:sp>
          <p:nvSpPr>
            <p:cNvPr id="375" name="Google Shape;375;p23"/>
            <p:cNvSpPr txBox="1"/>
            <p:nvPr/>
          </p:nvSpPr>
          <p:spPr>
            <a:xfrm>
              <a:off x="5429975" y="368150"/>
              <a:ext cx="1506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CHANNELS &amp; OUTREACH STRATEGY</a:t>
              </a:r>
              <a:endParaRPr b="1" sz="1000">
                <a:solidFill>
                  <a:schemeClr val="dk1"/>
                </a:solidFill>
              </a:endParaRPr>
            </a:p>
          </p:txBody>
        </p:sp>
        <p:sp>
          <p:nvSpPr>
            <p:cNvPr id="376" name="Google Shape;376;p23"/>
            <p:cNvSpPr txBox="1"/>
            <p:nvPr/>
          </p:nvSpPr>
          <p:spPr>
            <a:xfrm>
              <a:off x="462275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90-DAY PLAN</a:t>
              </a:r>
              <a:endParaRPr b="1" sz="1000">
                <a:solidFill>
                  <a:schemeClr val="dk1"/>
                </a:solidFill>
              </a:endParaRPr>
            </a:p>
          </p:txBody>
        </p:sp>
        <p:sp>
          <p:nvSpPr>
            <p:cNvPr id="377" name="Google Shape;377;p23"/>
            <p:cNvSpPr/>
            <p:nvPr/>
          </p:nvSpPr>
          <p:spPr>
            <a:xfrm>
              <a:off x="5049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23"/>
            <p:cNvSpPr/>
            <p:nvPr/>
          </p:nvSpPr>
          <p:spPr>
            <a:xfrm>
              <a:off x="7026300" y="2250925"/>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9" name="Google Shape;379;p23"/>
            <p:cNvSpPr/>
            <p:nvPr/>
          </p:nvSpPr>
          <p:spPr>
            <a:xfrm>
              <a:off x="3775900" y="2325450"/>
              <a:ext cx="1556700" cy="4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0" name="Google Shape;380;p23"/>
            <p:cNvSpPr txBox="1"/>
            <p:nvPr/>
          </p:nvSpPr>
          <p:spPr>
            <a:xfrm>
              <a:off x="5385300" y="1848300"/>
              <a:ext cx="1582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STARTUP COSTS &amp; REVENUE STREAMS</a:t>
              </a:r>
              <a:endParaRPr b="1" sz="1000">
                <a:solidFill>
                  <a:schemeClr val="dk1"/>
                </a:solidFill>
              </a:endParaRPr>
            </a:p>
          </p:txBody>
        </p:sp>
        <p:sp>
          <p:nvSpPr>
            <p:cNvPr id="381" name="Google Shape;381;p23"/>
            <p:cNvSpPr txBox="1"/>
            <p:nvPr/>
          </p:nvSpPr>
          <p:spPr>
            <a:xfrm>
              <a:off x="504900"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PROBLEM</a:t>
              </a:r>
              <a:endParaRPr b="1" sz="1000">
                <a:solidFill>
                  <a:schemeClr val="dk1"/>
                </a:solidFill>
              </a:endParaRPr>
            </a:p>
          </p:txBody>
        </p:sp>
        <p:sp>
          <p:nvSpPr>
            <p:cNvPr id="382" name="Google Shape;382;p23"/>
            <p:cNvSpPr txBox="1"/>
            <p:nvPr/>
          </p:nvSpPr>
          <p:spPr>
            <a:xfrm>
              <a:off x="2166575" y="184830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OUTCOMES</a:t>
              </a:r>
              <a:endParaRPr b="1" sz="1000">
                <a:solidFill>
                  <a:schemeClr val="dk1"/>
                </a:solidFill>
              </a:endParaRPr>
            </a:p>
          </p:txBody>
        </p:sp>
        <p:sp>
          <p:nvSpPr>
            <p:cNvPr id="383" name="Google Shape;383;p23"/>
            <p:cNvSpPr txBox="1"/>
            <p:nvPr/>
          </p:nvSpPr>
          <p:spPr>
            <a:xfrm>
              <a:off x="2166575" y="368150"/>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SOLUTION</a:t>
              </a:r>
              <a:endParaRPr b="1" sz="1000">
                <a:solidFill>
                  <a:schemeClr val="dk1"/>
                </a:solidFill>
              </a:endParaRPr>
            </a:p>
          </p:txBody>
        </p:sp>
        <p:sp>
          <p:nvSpPr>
            <p:cNvPr id="384" name="Google Shape;384;p23"/>
            <p:cNvSpPr txBox="1"/>
            <p:nvPr/>
          </p:nvSpPr>
          <p:spPr>
            <a:xfrm>
              <a:off x="504900" y="3365675"/>
              <a:ext cx="15567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MY VISION</a:t>
              </a:r>
              <a:endParaRPr b="1" sz="1000">
                <a:solidFill>
                  <a:schemeClr val="dk1"/>
                </a:solidFill>
              </a:endParaRPr>
            </a:p>
          </p:txBody>
        </p:sp>
        <p:sp>
          <p:nvSpPr>
            <p:cNvPr id="385" name="Google Shape;385;p23"/>
            <p:cNvSpPr txBox="1"/>
            <p:nvPr/>
          </p:nvSpPr>
          <p:spPr>
            <a:xfrm>
              <a:off x="3783838" y="3681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UNIQUE VALUE PROPOSITION</a:t>
              </a:r>
              <a:endParaRPr b="1" sz="1000">
                <a:solidFill>
                  <a:schemeClr val="dk1"/>
                </a:solidFill>
              </a:endParaRPr>
            </a:p>
          </p:txBody>
        </p:sp>
        <p:sp>
          <p:nvSpPr>
            <p:cNvPr id="386" name="Google Shape;386;p23"/>
            <p:cNvSpPr txBox="1"/>
            <p:nvPr/>
          </p:nvSpPr>
          <p:spPr>
            <a:xfrm>
              <a:off x="379365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makes my offering different from anything on the market? </a:t>
              </a:r>
              <a:endParaRPr b="1" i="1" sz="1000">
                <a:solidFill>
                  <a:srgbClr val="C55A11"/>
                </a:solidFill>
              </a:endParaRPr>
            </a:p>
          </p:txBody>
        </p:sp>
        <p:sp>
          <p:nvSpPr>
            <p:cNvPr id="387" name="Google Shape;387;p23"/>
            <p:cNvSpPr txBox="1"/>
            <p:nvPr/>
          </p:nvSpPr>
          <p:spPr>
            <a:xfrm>
              <a:off x="504900"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problem do my customers need to solve? </a:t>
              </a:r>
              <a:endParaRPr b="1" i="1" sz="1000">
                <a:solidFill>
                  <a:srgbClr val="C55A11"/>
                </a:solidFill>
              </a:endParaRPr>
            </a:p>
          </p:txBody>
        </p:sp>
        <p:sp>
          <p:nvSpPr>
            <p:cNvPr id="388" name="Google Shape;388;p23"/>
            <p:cNvSpPr txBox="1"/>
            <p:nvPr/>
          </p:nvSpPr>
          <p:spPr>
            <a:xfrm>
              <a:off x="2149275" y="706850"/>
              <a:ext cx="15567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my answer to their problem - my product or service? </a:t>
              </a:r>
              <a:endParaRPr b="1" i="1" sz="1000">
                <a:solidFill>
                  <a:srgbClr val="C55A11"/>
                </a:solidFill>
              </a:endParaRPr>
            </a:p>
          </p:txBody>
        </p:sp>
        <p:sp>
          <p:nvSpPr>
            <p:cNvPr id="389" name="Google Shape;389;p23"/>
            <p:cNvSpPr txBox="1"/>
            <p:nvPr/>
          </p:nvSpPr>
          <p:spPr>
            <a:xfrm>
              <a:off x="2140400" y="2114200"/>
              <a:ext cx="1582800" cy="1108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is the ultimate outcome my customer gets from my offering?</a:t>
              </a:r>
              <a:endParaRPr b="1" i="1" sz="1000">
                <a:solidFill>
                  <a:srgbClr val="C55A11"/>
                </a:solidFill>
              </a:endParaRPr>
            </a:p>
            <a:p>
              <a:pPr indent="0" lvl="0" marL="0" rtl="0" algn="l">
                <a:spcBef>
                  <a:spcPts val="0"/>
                </a:spcBef>
                <a:spcAft>
                  <a:spcPts val="0"/>
                </a:spcAft>
                <a:buNone/>
              </a:pPr>
              <a:r>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measure my business’s success? </a:t>
              </a:r>
              <a:endParaRPr b="1" i="1" sz="1000">
                <a:solidFill>
                  <a:srgbClr val="C55A11"/>
                </a:solidFill>
              </a:endParaRPr>
            </a:p>
          </p:txBody>
        </p:sp>
        <p:sp>
          <p:nvSpPr>
            <p:cNvPr id="390" name="Google Shape;390;p23"/>
            <p:cNvSpPr txBox="1"/>
            <p:nvPr/>
          </p:nvSpPr>
          <p:spPr>
            <a:xfrm>
              <a:off x="4727900" y="3641100"/>
              <a:ext cx="26982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Define my next steps – what do I need to operationalize my business? What unknowns do I need to answer? What is one thing I can experiment with? </a:t>
              </a:r>
              <a:endParaRPr b="1" i="1" sz="1000">
                <a:solidFill>
                  <a:srgbClr val="C55A11"/>
                </a:solidFill>
              </a:endParaRPr>
            </a:p>
          </p:txBody>
        </p:sp>
        <p:sp>
          <p:nvSpPr>
            <p:cNvPr id="391" name="Google Shape;391;p23"/>
            <p:cNvSpPr txBox="1"/>
            <p:nvPr/>
          </p:nvSpPr>
          <p:spPr>
            <a:xfrm>
              <a:off x="5398350" y="1014650"/>
              <a:ext cx="15567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How do I reach my customers?</a:t>
              </a:r>
              <a:endParaRPr b="1" i="1" sz="1000">
                <a:solidFill>
                  <a:srgbClr val="C55A11"/>
                </a:solidFill>
              </a:endParaRPr>
            </a:p>
          </p:txBody>
        </p:sp>
        <p:sp>
          <p:nvSpPr>
            <p:cNvPr id="392" name="Google Shape;392;p23"/>
            <p:cNvSpPr txBox="1"/>
            <p:nvPr/>
          </p:nvSpPr>
          <p:spPr>
            <a:xfrm>
              <a:off x="7062800" y="860750"/>
              <a:ext cx="15567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are some specific customer types I serve? </a:t>
              </a:r>
              <a:endParaRPr b="1" i="1" sz="1000">
                <a:solidFill>
                  <a:srgbClr val="C55A11"/>
                </a:solidFill>
              </a:endParaRPr>
            </a:p>
            <a:p>
              <a:pPr indent="0" lvl="0" marL="0" rtl="0" algn="l">
                <a:spcBef>
                  <a:spcPts val="0"/>
                </a:spcBef>
                <a:spcAft>
                  <a:spcPts val="0"/>
                </a:spcAft>
                <a:buNone/>
              </a:pPr>
              <a:r>
                <a:rPr b="1" i="1" lang="en" sz="1000">
                  <a:solidFill>
                    <a:srgbClr val="C55A11"/>
                  </a:solidFill>
                </a:rPr>
                <a:t>(WHO PAYS)</a:t>
              </a:r>
              <a:endParaRPr b="1" i="1" sz="1000">
                <a:solidFill>
                  <a:srgbClr val="C55A11"/>
                </a:solidFill>
              </a:endParaRPr>
            </a:p>
          </p:txBody>
        </p:sp>
        <p:sp>
          <p:nvSpPr>
            <p:cNvPr id="393" name="Google Shape;393;p23"/>
            <p:cNvSpPr txBox="1"/>
            <p:nvPr/>
          </p:nvSpPr>
          <p:spPr>
            <a:xfrm>
              <a:off x="5401100" y="2187000"/>
              <a:ext cx="155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will it cost to operationalize my business and deliver my solution? </a:t>
              </a:r>
              <a:endParaRPr b="1" i="1" sz="1000">
                <a:solidFill>
                  <a:srgbClr val="C55A11"/>
                </a:solidFill>
              </a:endParaRPr>
            </a:p>
            <a:p>
              <a:pPr indent="0" lvl="0" marL="0" rtl="0" algn="l">
                <a:spcBef>
                  <a:spcPts val="0"/>
                </a:spcBef>
                <a:spcAft>
                  <a:spcPts val="0"/>
                </a:spcAft>
                <a:buNone/>
              </a:pPr>
              <a:r>
                <a:rPr b="1" i="1" lang="en" sz="1000">
                  <a:solidFill>
                    <a:srgbClr val="C55A11"/>
                  </a:solidFill>
                </a:rPr>
                <a:t>How do I make money?</a:t>
              </a:r>
              <a:endParaRPr b="1" i="1" sz="1000">
                <a:solidFill>
                  <a:srgbClr val="C55A11"/>
                </a:solidFill>
              </a:endParaRPr>
            </a:p>
          </p:txBody>
        </p:sp>
        <p:sp>
          <p:nvSpPr>
            <p:cNvPr id="394" name="Google Shape;394;p23"/>
            <p:cNvSpPr txBox="1"/>
            <p:nvPr/>
          </p:nvSpPr>
          <p:spPr>
            <a:xfrm>
              <a:off x="592575" y="3641100"/>
              <a:ext cx="2583900" cy="646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55A11"/>
                  </a:solidFill>
                </a:rPr>
                <a:t>What outcome to I personally want out of this business venture? What does success look like in 1 year? 5 years? </a:t>
              </a:r>
              <a:endParaRPr b="1" i="1" sz="1000">
                <a:solidFill>
                  <a:srgbClr val="C55A11"/>
                </a:solidFill>
              </a:endParaRPr>
            </a:p>
          </p:txBody>
        </p:sp>
      </p:grpSp>
      <p:sp>
        <p:nvSpPr>
          <p:cNvPr id="395" name="Google Shape;395;p23"/>
          <p:cNvSpPr/>
          <p:nvPr/>
        </p:nvSpPr>
        <p:spPr>
          <a:xfrm>
            <a:off x="4441680" y="3172095"/>
            <a:ext cx="3195475" cy="1584525"/>
          </a:xfrm>
          <a:custGeom>
            <a:rect b="b" l="l" r="r" t="t"/>
            <a:pathLst>
              <a:path extrusionOk="0" h="63381" w="127819">
                <a:moveTo>
                  <a:pt x="75616" y="2938"/>
                </a:moveTo>
                <a:cubicBezTo>
                  <a:pt x="59338" y="2938"/>
                  <a:pt x="43008" y="3000"/>
                  <a:pt x="26811" y="4621"/>
                </a:cubicBezTo>
                <a:cubicBezTo>
                  <a:pt x="20101" y="5292"/>
                  <a:pt x="12852" y="6465"/>
                  <a:pt x="7457" y="10511"/>
                </a:cubicBezTo>
                <a:cubicBezTo>
                  <a:pt x="-1992" y="17597"/>
                  <a:pt x="-1932" y="36241"/>
                  <a:pt x="4932" y="45853"/>
                </a:cubicBezTo>
                <a:cubicBezTo>
                  <a:pt x="20876" y="68181"/>
                  <a:pt x="59230" y="64695"/>
                  <a:pt x="86134" y="59316"/>
                </a:cubicBezTo>
                <a:cubicBezTo>
                  <a:pt x="100774" y="56389"/>
                  <a:pt x="120984" y="53825"/>
                  <a:pt x="126525" y="39962"/>
                </a:cubicBezTo>
                <a:cubicBezTo>
                  <a:pt x="131602" y="27261"/>
                  <a:pt x="119977" y="8584"/>
                  <a:pt x="107171" y="3779"/>
                </a:cubicBezTo>
                <a:cubicBezTo>
                  <a:pt x="86683" y="-3908"/>
                  <a:pt x="63418" y="2517"/>
                  <a:pt x="41536" y="2517"/>
                </a:cubicBezTo>
              </a:path>
            </a:pathLst>
          </a:custGeom>
          <a:noFill/>
          <a:ln cap="flat" cmpd="sng" w="76200">
            <a:solidFill>
              <a:srgbClr val="69B148"/>
            </a:solidFill>
            <a:prstDash val="solid"/>
            <a:round/>
            <a:headEnd len="med" w="med" type="none"/>
            <a:tailEnd len="med" w="med" type="none"/>
          </a:ln>
        </p:spPr>
      </p:sp>
      <p:grpSp>
        <p:nvGrpSpPr>
          <p:cNvPr id="396" name="Google Shape;396;p23"/>
          <p:cNvGrpSpPr/>
          <p:nvPr/>
        </p:nvGrpSpPr>
        <p:grpSpPr>
          <a:xfrm>
            <a:off x="681175" y="275150"/>
            <a:ext cx="6345125" cy="2812800"/>
            <a:chOff x="3079375" y="1167525"/>
            <a:chExt cx="6345125" cy="2812800"/>
          </a:xfrm>
        </p:grpSpPr>
        <p:sp>
          <p:nvSpPr>
            <p:cNvPr id="397" name="Google Shape;397;p23"/>
            <p:cNvSpPr/>
            <p:nvPr/>
          </p:nvSpPr>
          <p:spPr>
            <a:xfrm>
              <a:off x="4202100" y="1167525"/>
              <a:ext cx="5222400" cy="2812800"/>
            </a:xfrm>
            <a:prstGeom prst="wedgeRectCallout">
              <a:avLst>
                <a:gd fmla="val -2972" name="adj1"/>
                <a:gd fmla="val 71473" name="adj2"/>
              </a:avLst>
            </a:prstGeom>
            <a:solidFill>
              <a:schemeClr val="lt2"/>
            </a:solidFill>
            <a:ln cap="flat" cmpd="sng" w="38100">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8" name="Google Shape;398;p23"/>
            <p:cNvSpPr txBox="1"/>
            <p:nvPr/>
          </p:nvSpPr>
          <p:spPr>
            <a:xfrm>
              <a:off x="3079375" y="1476450"/>
              <a:ext cx="5048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pSp>
      <p:sp>
        <p:nvSpPr>
          <p:cNvPr id="399" name="Google Shape;399;p23"/>
          <p:cNvSpPr txBox="1"/>
          <p:nvPr/>
        </p:nvSpPr>
        <p:spPr>
          <a:xfrm>
            <a:off x="2061600" y="401600"/>
            <a:ext cx="47034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What aspects of my business do I need more clarity on? What activities can I implement to get the answers I need in a short amount of time? What barriers can I knock down in 3 months that will create more opportunity for my business to grow? What are my immediate priorities? </a:t>
            </a:r>
            <a:r>
              <a:rPr lang="en" sz="1800">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