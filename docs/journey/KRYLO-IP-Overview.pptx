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Introduce KRYLO and the purpose of this review: an IP overview for attorney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founder credibility: 20+ years across major enterprise programs, culminating in a founder-led approach that blends technical, product, and creative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linked video in frame. This slide sets the philosophical premise before the technical detail: KRYLO started from the idea that signals precede visible events, and the pursuit was recognition of structure, not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development phases of KRYLO, ending with the reasoning pipeline stages and the guiding principle around evidence and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each pipeline layer in plain technical language for the attorneys, then show the flow from signal generation to operational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four confirmed implemented capabilities that form KRYLO's technical foundation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KRYLO progressed from concept to structural intelligence engine — not as an engineering changelog, but as a capability evolution. Separate what's built, validated, and next-stage; this bridges the technical story into the IP and valuation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montage as developmental evidence of an evolving design vocabulary, not as the completed KRYLO architecture. Do not assign dates to individual panels or claim any panel is the first KRYLO prototype. Name as-diff explicitly as part of the analytical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slide carefully: this is a starting point for attorney evaluation, not a claim of protection. Four candidate areas follow, each mapped to a potential area of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establishing that KRYLO's development is thoroughly documented and traceable, and lay out the objective of the IP review: choosing among patents, trade secrets, copyright, and defensive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3457129"/>
            <a:ext cx="18021300" cy="309563"/>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00D2D3"/>
                </a:solidFill>
                <a:latin typeface="IBM Plex Mono" pitchFamily="34" charset="0"/>
                <a:ea typeface="IBM Plex Mono" pitchFamily="34" charset="-122"/>
                <a:cs typeface="IBM Plex Mono" pitchFamily="34" charset="-120"/>
              </a:rPr>
              <a:t>INTELLECTUAL PROPERTY OVERVIEW</a:t>
            </a:r>
            <a:endParaRPr lang="en-US" sz="1650" dirty="0"/>
          </a:p>
        </p:txBody>
      </p:sp>
      <p:sp>
        <p:nvSpPr>
          <p:cNvPr id="3" name="Text 1"/>
          <p:cNvSpPr/>
          <p:nvPr/>
        </p:nvSpPr>
        <p:spPr>
          <a:xfrm>
            <a:off x="952500" y="3995291"/>
            <a:ext cx="18021300" cy="1638300"/>
          </a:xfrm>
          <a:prstGeom prst="rect">
            <a:avLst/>
          </a:prstGeom>
          <a:noFill/>
          <a:ln/>
        </p:spPr>
        <p:txBody>
          <a:bodyPr wrap="square" lIns="25400" tIns="25400" rIns="25400" bIns="25400" rtlCol="0" anchor="t">
            <a:normAutofit/>
          </a:bodyPr>
          <a:lstStyle/>
          <a:p>
            <a:pPr algn="l" indent="0" marL="0">
              <a:lnSpc>
                <a:spcPct val="78322"/>
              </a:lnSpc>
              <a:buNone/>
            </a:pPr>
            <a:r>
              <a:rPr lang="en-US" sz="12600" b="1" spc="-252" kern="0" dirty="0">
                <a:solidFill>
                  <a:srgbClr val="ECEFF2"/>
                </a:solidFill>
                <a:latin typeface="Space Grotesk" pitchFamily="34" charset="0"/>
                <a:ea typeface="Space Grotesk" pitchFamily="34" charset="-122"/>
                <a:cs typeface="Space Grotesk" pitchFamily="34" charset="-120"/>
              </a:rPr>
              <a:t>KRYLO</a:t>
            </a:r>
            <a:endParaRPr lang="en-US" sz="12600" dirty="0"/>
          </a:p>
        </p:txBody>
      </p:sp>
      <p:sp>
        <p:nvSpPr>
          <p:cNvPr id="4" name="Text 2"/>
          <p:cNvSpPr/>
          <p:nvPr/>
        </p:nvSpPr>
        <p:spPr>
          <a:xfrm>
            <a:off x="952500" y="5976491"/>
            <a:ext cx="10791825" cy="891480"/>
          </a:xfrm>
          <a:prstGeom prst="rect">
            <a:avLst/>
          </a:prstGeom>
          <a:noFill/>
          <a:ln/>
        </p:spPr>
        <p:txBody>
          <a:bodyPr wrap="square" lIns="25400" tIns="25400" rIns="25400" bIns="25400" rtlCol="0" anchor="t">
            <a:normAutofit/>
          </a:bodyPr>
          <a:lstStyle/>
          <a:p>
            <a:pPr algn="l" indent="0" marL="0">
              <a:lnSpc>
                <a:spcPct val="109268"/>
              </a:lnSpc>
              <a:buNone/>
            </a:pPr>
            <a:r>
              <a:rPr lang="en-US" sz="2400" dirty="0">
                <a:solidFill>
                  <a:srgbClr val="9CA5B1"/>
                </a:solidFill>
                <a:latin typeface="Space Grotesk" pitchFamily="34" charset="0"/>
                <a:ea typeface="Space Grotesk" pitchFamily="34" charset="-122"/>
                <a:cs typeface="Space Grotesk" pitchFamily="34" charset="-120"/>
              </a:rPr>
              <a:t>A structural review of the system's architecture and documentation record, prepared for attorney assessment.</a:t>
            </a:r>
            <a:endParaRPr lang="en-US" sz="2400" dirty="0"/>
          </a:p>
        </p:txBody>
      </p:sp>
      <p:sp>
        <p:nvSpPr>
          <p:cNvPr id="5" name="Text 3"/>
          <p:cNvSpPr/>
          <p:nvPr/>
        </p:nvSpPr>
        <p:spPr>
          <a:xfrm>
            <a:off x="952500" y="9253538"/>
            <a:ext cx="1521366" cy="309563"/>
          </a:xfrm>
          <a:prstGeom prst="rect">
            <a:avLst/>
          </a:prstGeom>
          <a:noFill/>
          <a:ln/>
        </p:spPr>
        <p:txBody>
          <a:bodyPr wrap="square" lIns="25400" tIns="25400" rIns="25400" bIns="25400" rtlCol="0" anchor="t">
            <a:normAutofit/>
          </a:bodyPr>
          <a:lstStyle/>
          <a:p>
            <a:pPr algn="l" indent="0" marL="0">
              <a:buNone/>
            </a:pPr>
            <a:r>
              <a:rPr lang="en-US" sz="1650" dirty="0">
                <a:solidFill>
                  <a:srgbClr val="9CA5B1"/>
                </a:solidFill>
                <a:latin typeface="IBM Plex Mono" pitchFamily="34" charset="0"/>
                <a:ea typeface="IBM Plex Mono" pitchFamily="34" charset="-122"/>
                <a:cs typeface="IBM Plex Mono" pitchFamily="34" charset="-120"/>
              </a:rPr>
              <a:t>August 2026</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01 — BACKGROUND</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Founder Background &amp; Why This Matters</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Building Complex Systems Across Technology, Enterprise, and Creative Domains</a:t>
            </a:r>
            <a:endParaRPr lang="en-US" sz="2400" dirty="0"/>
          </a:p>
        </p:txBody>
      </p:sp>
      <p:sp>
        <p:nvSpPr>
          <p:cNvPr id="5" name="Text 3"/>
          <p:cNvSpPr/>
          <p:nvPr/>
        </p:nvSpPr>
        <p:spPr>
          <a:xfrm>
            <a:off x="952500" y="3128963"/>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6" name="Text 4"/>
          <p:cNvSpPr/>
          <p:nvPr/>
        </p:nvSpPr>
        <p:spPr>
          <a:xfrm>
            <a:off x="1219200" y="3143250"/>
            <a:ext cx="9026120"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20+ years delivering enterprise technology programs across engineering, infrastructure, digital platforms, and AI enablement.</a:t>
            </a:r>
            <a:endParaRPr lang="en-US" sz="1950" dirty="0"/>
          </a:p>
        </p:txBody>
      </p:sp>
      <p:sp>
        <p:nvSpPr>
          <p:cNvPr id="7" name="Text 5"/>
          <p:cNvSpPr/>
          <p:nvPr/>
        </p:nvSpPr>
        <p:spPr>
          <a:xfrm>
            <a:off x="952500" y="4031903"/>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8" name="Text 6"/>
          <p:cNvSpPr/>
          <p:nvPr/>
        </p:nvSpPr>
        <p:spPr>
          <a:xfrm>
            <a:off x="1219200" y="4046190"/>
            <a:ext cx="8712176"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Autodesk / AutoCAD Engineering — engineering, build/release, and web systems foundation.</a:t>
            </a:r>
            <a:endParaRPr lang="en-US" sz="1950" dirty="0"/>
          </a:p>
        </p:txBody>
      </p:sp>
      <p:sp>
        <p:nvSpPr>
          <p:cNvPr id="9" name="Text 7"/>
          <p:cNvSpPr/>
          <p:nvPr/>
        </p:nvSpPr>
        <p:spPr>
          <a:xfrm>
            <a:off x="952500" y="4934843"/>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0" name="Text 8"/>
          <p:cNvSpPr/>
          <p:nvPr/>
        </p:nvSpPr>
        <p:spPr>
          <a:xfrm>
            <a:off x="1219200" y="4949130"/>
            <a:ext cx="7970238" cy="699120"/>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Royal Caribbean Group/Celebrity Global Ecommerce — enterprise infrastructure modernization and global digital initiatives.</a:t>
            </a:r>
            <a:endParaRPr lang="en-US" sz="1950" dirty="0"/>
          </a:p>
        </p:txBody>
      </p:sp>
      <p:sp>
        <p:nvSpPr>
          <p:cNvPr id="11" name="Text 9"/>
          <p:cNvSpPr/>
          <p:nvPr/>
        </p:nvSpPr>
        <p:spPr>
          <a:xfrm>
            <a:off x="1219200" y="5761583"/>
            <a:ext cx="11534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7475"/>
                </a:solidFill>
                <a:latin typeface="Space Grotesk" pitchFamily="34" charset="0"/>
                <a:ea typeface="Space Grotesk" pitchFamily="34" charset="-122"/>
                <a:cs typeface="Space Grotesk" pitchFamily="34" charset="-120"/>
              </a:rPr>
              <a:t>·</a:t>
            </a:r>
            <a:endParaRPr lang="en-US" sz="1650" dirty="0"/>
          </a:p>
        </p:txBody>
      </p:sp>
      <p:sp>
        <p:nvSpPr>
          <p:cNvPr id="12" name="Text 10"/>
          <p:cNvSpPr/>
          <p:nvPr/>
        </p:nvSpPr>
        <p:spPr>
          <a:xfrm>
            <a:off x="1447800" y="5771108"/>
            <a:ext cx="5975513"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Program Manager for Next Generation Embarkation (NGE).</a:t>
            </a:r>
            <a:endParaRPr lang="en-US" sz="1650" dirty="0"/>
          </a:p>
        </p:txBody>
      </p:sp>
      <p:sp>
        <p:nvSpPr>
          <p:cNvPr id="13" name="Text 11"/>
          <p:cNvSpPr/>
          <p:nvPr/>
        </p:nvSpPr>
        <p:spPr>
          <a:xfrm>
            <a:off x="1219200" y="6150173"/>
            <a:ext cx="11534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7475"/>
                </a:solidFill>
                <a:latin typeface="Space Grotesk" pitchFamily="34" charset="0"/>
                <a:ea typeface="Space Grotesk" pitchFamily="34" charset="-122"/>
                <a:cs typeface="Space Grotesk" pitchFamily="34" charset="-120"/>
              </a:rPr>
              <a:t>·</a:t>
            </a:r>
            <a:endParaRPr lang="en-US" sz="1650" dirty="0"/>
          </a:p>
        </p:txBody>
      </p:sp>
      <p:sp>
        <p:nvSpPr>
          <p:cNvPr id="14" name="Text 12"/>
          <p:cNvSpPr/>
          <p:nvPr/>
        </p:nvSpPr>
        <p:spPr>
          <a:xfrm>
            <a:off x="1447800" y="6159698"/>
            <a:ext cx="5321949"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Large-scale digital and operational transformation.</a:t>
            </a:r>
            <a:endParaRPr lang="en-US" sz="1650" dirty="0"/>
          </a:p>
        </p:txBody>
      </p:sp>
      <p:sp>
        <p:nvSpPr>
          <p:cNvPr id="15" name="Text 13"/>
          <p:cNvSpPr/>
          <p:nvPr/>
        </p:nvSpPr>
        <p:spPr>
          <a:xfrm>
            <a:off x="952500" y="6653064"/>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6" name="Text 14"/>
          <p:cNvSpPr/>
          <p:nvPr/>
        </p:nvSpPr>
        <p:spPr>
          <a:xfrm>
            <a:off x="1219200" y="6667351"/>
            <a:ext cx="8002966"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AmEx / regulated enterprise environments — large-scale delivery, governance, and operational complexity.</a:t>
            </a:r>
            <a:endParaRPr lang="en-US" sz="1950" dirty="0"/>
          </a:p>
        </p:txBody>
      </p:sp>
      <p:sp>
        <p:nvSpPr>
          <p:cNvPr id="17" name="Text 15"/>
          <p:cNvSpPr/>
          <p:nvPr/>
        </p:nvSpPr>
        <p:spPr>
          <a:xfrm>
            <a:off x="952500" y="7556004"/>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8" name="Text 16"/>
          <p:cNvSpPr/>
          <p:nvPr/>
        </p:nvSpPr>
        <p:spPr>
          <a:xfrm>
            <a:off x="1219200" y="7570291"/>
            <a:ext cx="8371099"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Founder-led development approach combining technical execution, product strategy, and creative direction.</a:t>
            </a:r>
            <a:endParaRPr lang="en-US" sz="1950" dirty="0"/>
          </a:p>
        </p:txBody>
      </p:sp>
      <p:sp>
        <p:nvSpPr>
          <p:cNvPr id="19" name="Text 17"/>
          <p:cNvSpPr/>
          <p:nvPr/>
        </p:nvSpPr>
        <p:spPr>
          <a:xfrm>
            <a:off x="952500" y="8458944"/>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20" name="Text 18"/>
          <p:cNvSpPr/>
          <p:nvPr/>
        </p:nvSpPr>
        <p:spPr>
          <a:xfrm>
            <a:off x="1219200" y="8473232"/>
            <a:ext cx="7716155" cy="352425"/>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Filed first patent at 14 — retractable, submersible garden hose.</a:t>
            </a:r>
            <a:endParaRPr lang="en-US" sz="1950" dirty="0"/>
          </a:p>
        </p:txBody>
      </p:sp>
      <p:sp>
        <p:nvSpPr>
          <p:cNvPr id="21" name="Shape 19"/>
          <p:cNvSpPr/>
          <p:nvPr/>
        </p:nvSpPr>
        <p:spPr>
          <a:xfrm>
            <a:off x="10763250" y="3128963"/>
            <a:ext cx="6572250" cy="2707779"/>
          </a:xfrm>
          <a:prstGeom prst="roundRect">
            <a:avLst>
              <a:gd name="adj" fmla="val 1407"/>
            </a:avLst>
          </a:prstGeom>
          <a:solidFill>
            <a:srgbClr val="141B24"/>
          </a:solidFill>
          <a:ln w="9525">
            <a:solidFill>
              <a:srgbClr val="2C333D"/>
            </a:solidFill>
            <a:prstDash val="solid"/>
          </a:ln>
        </p:spPr>
      </p:sp>
      <p:sp>
        <p:nvSpPr>
          <p:cNvPr id="22" name="Text 20"/>
          <p:cNvSpPr/>
          <p:nvPr/>
        </p:nvSpPr>
        <p:spPr>
          <a:xfrm>
            <a:off x="11153775" y="3595688"/>
            <a:ext cx="6370320" cy="261937"/>
          </a:xfrm>
          <a:prstGeom prst="rect">
            <a:avLst/>
          </a:prstGeom>
          <a:noFill/>
          <a:ln/>
        </p:spPr>
        <p:txBody>
          <a:bodyPr wrap="square" lIns="25400" tIns="25400" rIns="25400" bIns="25400" rtlCol="0" anchor="t">
            <a:normAutofit/>
          </a:bodyPr>
          <a:lstStyle/>
          <a:p>
            <a:pPr algn="l" indent="0" marL="0">
              <a:buNone/>
            </a:pPr>
            <a:r>
              <a:rPr lang="en-US" sz="1350" spc="162" kern="0" dirty="0">
                <a:solidFill>
                  <a:srgbClr val="00D2D3"/>
                </a:solidFill>
                <a:latin typeface="IBM Plex Mono" pitchFamily="34" charset="0"/>
                <a:ea typeface="IBM Plex Mono" pitchFamily="34" charset="-122"/>
                <a:cs typeface="IBM Plex Mono" pitchFamily="34" charset="-120"/>
              </a:rPr>
              <a:t>CORE THEME</a:t>
            </a:r>
            <a:endParaRPr lang="en-US" sz="1350" dirty="0"/>
          </a:p>
        </p:txBody>
      </p:sp>
      <p:sp>
        <p:nvSpPr>
          <p:cNvPr id="23" name="Text 21"/>
          <p:cNvSpPr/>
          <p:nvPr/>
        </p:nvSpPr>
        <p:spPr>
          <a:xfrm>
            <a:off x="11153775" y="4010025"/>
            <a:ext cx="5964936" cy="1398091"/>
          </a:xfrm>
          <a:prstGeom prst="rect">
            <a:avLst/>
          </a:prstGeom>
          <a:noFill/>
          <a:ln/>
        </p:spPr>
        <p:txBody>
          <a:bodyPr wrap="square" lIns="25400" tIns="25400" rIns="25400" bIns="25400" rtlCol="0" anchor="t">
            <a:normAutofit/>
          </a:bodyPr>
          <a:lstStyle/>
          <a:p>
            <a:pPr algn="l" indent="0" marL="0">
              <a:lnSpc>
                <a:spcPct val="109425"/>
              </a:lnSpc>
              <a:buNone/>
            </a:pPr>
            <a:r>
              <a:rPr lang="en-US" sz="2550" dirty="0">
                <a:solidFill>
                  <a:srgbClr val="ECEFF2"/>
                </a:solidFill>
                <a:latin typeface="Space Grotesk" pitchFamily="34" charset="0"/>
                <a:ea typeface="Space Grotesk" pitchFamily="34" charset="-122"/>
                <a:cs typeface="Space Grotesk" pitchFamily="34" charset="-120"/>
              </a:rPr>
              <a:t>Building systems that transform complex information into actionable understanding.</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02 — ORIGIN</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The Origin of KRYLO</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The Foundational Observation</a:t>
            </a:r>
            <a:endParaRPr lang="en-US" sz="2400" dirty="0"/>
          </a:p>
        </p:txBody>
      </p:sp>
      <p:sp>
        <p:nvSpPr>
          <p:cNvPr id="5" name="Shape 3"/>
          <p:cNvSpPr/>
          <p:nvPr/>
        </p:nvSpPr>
        <p:spPr>
          <a:xfrm>
            <a:off x="952500" y="4286696"/>
            <a:ext cx="7530182" cy="4244057"/>
          </a:xfrm>
          <a:prstGeom prst="roundRect">
            <a:avLst>
              <a:gd name="adj" fmla="val 898"/>
            </a:avLst>
          </a:prstGeom>
          <a:solidFill>
            <a:srgbClr val="000000"/>
          </a:solidFill>
          <a:ln w="9525">
            <a:solidFill>
              <a:srgbClr val="2C333D"/>
            </a:solidFill>
            <a:prstDash val="solid"/>
          </a:ln>
        </p:spPr>
      </p:sp>
      <p:sp>
        <p:nvSpPr>
          <p:cNvPr id="6" name="Text 4"/>
          <p:cNvSpPr/>
          <p:nvPr/>
        </p:nvSpPr>
        <p:spPr>
          <a:xfrm>
            <a:off x="9073232" y="3128963"/>
            <a:ext cx="9088495"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dirty="0">
                <a:solidFill>
                  <a:srgbClr val="ECEFF2"/>
                </a:solidFill>
                <a:latin typeface="Space Grotesk" pitchFamily="34" charset="0"/>
                <a:ea typeface="Space Grotesk" pitchFamily="34" charset="-122"/>
                <a:cs typeface="Space Grotesk" pitchFamily="34" charset="-120"/>
              </a:rPr>
              <a:t>Before events become visible, signals already exist.</a:t>
            </a:r>
            <a:endParaRPr lang="en-US" sz="2250" dirty="0"/>
          </a:p>
        </p:txBody>
      </p:sp>
      <p:sp>
        <p:nvSpPr>
          <p:cNvPr id="7" name="Text 5"/>
          <p:cNvSpPr/>
          <p:nvPr/>
        </p:nvSpPr>
        <p:spPr>
          <a:xfrm>
            <a:off x="9073232" y="3833812"/>
            <a:ext cx="8510136" cy="1524000"/>
          </a:xfrm>
          <a:prstGeom prst="rect">
            <a:avLst/>
          </a:prstGeom>
          <a:noFill/>
          <a:ln/>
        </p:spPr>
        <p:txBody>
          <a:bodyPr wrap="square" lIns="25400" tIns="25400" rIns="25400" bIns="25400" rtlCol="0" anchor="t">
            <a:normAutofit/>
          </a:bodyPr>
          <a:lstStyle/>
          <a:p>
            <a:pPr algn="l" indent="0" marL="0">
              <a:lnSpc>
                <a:spcPct val="118182"/>
              </a:lnSpc>
              <a:buNone/>
            </a:pPr>
            <a:r>
              <a:rPr lang="en-US" sz="1950" dirty="0">
                <a:solidFill>
                  <a:srgbClr val="9CA5B1"/>
                </a:solidFill>
                <a:latin typeface="Space Grotesk" pitchFamily="34" charset="0"/>
                <a:ea typeface="Space Grotesk" pitchFamily="34" charset="-122"/>
                <a:cs typeface="Space Grotesk" pitchFamily="34" charset="-120"/>
              </a:rPr>
              <a:t>A vibration. A pattern. A relationship. A change in state.</a:t>
            </a:r>
            <a:endParaRPr lang="en-US" sz="1950" dirty="0"/>
          </a:p>
        </p:txBody>
      </p:sp>
      <p:sp>
        <p:nvSpPr>
          <p:cNvPr id="8" name="Text 6"/>
          <p:cNvSpPr/>
          <p:nvPr/>
        </p:nvSpPr>
        <p:spPr>
          <a:xfrm>
            <a:off x="9073232" y="5624513"/>
            <a:ext cx="9088495"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THE QUESTION</a:t>
            </a:r>
            <a:endParaRPr lang="en-US" sz="1350" dirty="0"/>
          </a:p>
        </p:txBody>
      </p:sp>
      <p:sp>
        <p:nvSpPr>
          <p:cNvPr id="9" name="Text 7"/>
          <p:cNvSpPr/>
          <p:nvPr/>
        </p:nvSpPr>
        <p:spPr>
          <a:xfrm>
            <a:off x="9073232" y="5943600"/>
            <a:ext cx="8510136" cy="1158106"/>
          </a:xfrm>
          <a:prstGeom prst="rect">
            <a:avLst/>
          </a:prstGeom>
          <a:noFill/>
          <a:ln/>
        </p:spPr>
        <p:txBody>
          <a:bodyPr wrap="square" lIns="25400" tIns="25400" rIns="25400" bIns="25400" rtlCol="0" anchor="t">
            <a:normAutofit/>
          </a:bodyPr>
          <a:lstStyle/>
          <a:p>
            <a:pPr algn="l" indent="0" marL="0">
              <a:lnSpc>
                <a:spcPct val="110423"/>
              </a:lnSpc>
              <a:buNone/>
            </a:pPr>
            <a:r>
              <a:rPr lang="en-US" sz="2100" i="1" dirty="0">
                <a:solidFill>
                  <a:srgbClr val="ECEFF2"/>
                </a:solidFill>
                <a:latin typeface="Space Grotesk" pitchFamily="34" charset="0"/>
                <a:ea typeface="Space Grotesk" pitchFamily="34" charset="-122"/>
                <a:cs typeface="Space Grotesk" pitchFamily="34" charset="-120"/>
              </a:rPr>
              <a:t>Can we build systems that recognize these signals, understand their relationships, and preserve the path from observation to understanding?</a:t>
            </a:r>
            <a:endParaRPr lang="en-US" sz="2100" dirty="0"/>
          </a:p>
        </p:txBody>
      </p:sp>
      <p:sp>
        <p:nvSpPr>
          <p:cNvPr id="10" name="Shape 8"/>
          <p:cNvSpPr/>
          <p:nvPr/>
        </p:nvSpPr>
        <p:spPr>
          <a:xfrm>
            <a:off x="9073232" y="7368406"/>
            <a:ext cx="8262268" cy="9525"/>
          </a:xfrm>
          <a:prstGeom prst="rect">
            <a:avLst/>
          </a:prstGeom>
          <a:solidFill>
            <a:srgbClr val="2C333D"/>
          </a:solidFill>
          <a:ln/>
        </p:spPr>
      </p:sp>
      <p:sp>
        <p:nvSpPr>
          <p:cNvPr id="11" name="Text 9"/>
          <p:cNvSpPr/>
          <p:nvPr/>
        </p:nvSpPr>
        <p:spPr>
          <a:xfrm>
            <a:off x="9073232" y="7644631"/>
            <a:ext cx="9088495" cy="352425"/>
          </a:xfrm>
          <a:prstGeom prst="rect">
            <a:avLst/>
          </a:prstGeom>
          <a:noFill/>
          <a:ln/>
        </p:spPr>
        <p:txBody>
          <a:bodyPr wrap="square" lIns="25400" tIns="25400" rIns="25400" bIns="25400" rtlCol="0" anchor="t">
            <a:normAutofit/>
          </a:bodyPr>
          <a:lstStyle/>
          <a:p>
            <a:pPr algn="l" indent="0" marL="0">
              <a:buNone/>
            </a:pPr>
            <a:r>
              <a:rPr lang="en-US" sz="1950" dirty="0">
                <a:solidFill>
                  <a:srgbClr val="9CA5B1"/>
                </a:solidFill>
                <a:latin typeface="Space Grotesk" pitchFamily="34" charset="0"/>
                <a:ea typeface="Space Grotesk" pitchFamily="34" charset="-122"/>
                <a:cs typeface="Space Grotesk" pitchFamily="34" charset="-120"/>
              </a:rPr>
              <a:t>KRYLO began with that pursuit:</a:t>
            </a:r>
            <a:endParaRPr lang="en-US" sz="1950" dirty="0"/>
          </a:p>
        </p:txBody>
      </p:sp>
      <p:sp>
        <p:nvSpPr>
          <p:cNvPr id="12" name="Text 10"/>
          <p:cNvSpPr/>
          <p:nvPr/>
        </p:nvSpPr>
        <p:spPr>
          <a:xfrm>
            <a:off x="9073232" y="8092306"/>
            <a:ext cx="8510136" cy="1043806"/>
          </a:xfrm>
          <a:prstGeom prst="rect">
            <a:avLst/>
          </a:prstGeom>
          <a:noFill/>
          <a:ln/>
        </p:spPr>
        <p:txBody>
          <a:bodyPr wrap="square" lIns="25400" tIns="25400" rIns="25400" bIns="25400" rtlCol="0" anchor="t">
            <a:normAutofit/>
          </a:bodyPr>
          <a:lstStyle/>
          <a:p>
            <a:pPr algn="l" indent="0" marL="0">
              <a:lnSpc>
                <a:spcPct val="125714"/>
              </a:lnSpc>
              <a:buNone/>
            </a:pPr>
            <a:r>
              <a:rPr lang="en-US" sz="1650" dirty="0">
                <a:solidFill>
                  <a:srgbClr val="9CA5B1"/>
                </a:solidFill>
                <a:latin typeface="Space Grotesk" pitchFamily="34" charset="0"/>
                <a:ea typeface="Space Grotesk" pitchFamily="34" charset="-122"/>
                <a:cs typeface="Space Grotesk" pitchFamily="34" charset="-120"/>
              </a:rPr>
              <a:t>Not prediction. Not persuasion. Not recommendation.</a:t>
            </a:r>
            <a:endParaRPr lang="en-US" sz="1650" dirty="0"/>
          </a:p>
        </p:txBody>
      </p:sp>
      <p:sp>
        <p:nvSpPr>
          <p:cNvPr id="13" name="Text 11"/>
          <p:cNvSpPr/>
          <p:nvPr/>
        </p:nvSpPr>
        <p:spPr>
          <a:xfrm>
            <a:off x="9073232" y="9288512"/>
            <a:ext cx="9088495"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b="1" dirty="0">
                <a:solidFill>
                  <a:srgbClr val="ECEFF2"/>
                </a:solidFill>
                <a:latin typeface="Space Grotesk" pitchFamily="34" charset="0"/>
                <a:ea typeface="Space Grotesk" pitchFamily="34" charset="-122"/>
                <a:cs typeface="Space Grotesk" pitchFamily="34" charset="-120"/>
              </a:rPr>
              <a:t>Recognition of structure before it becomes obvious.</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03 — EVOLUTION</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KRYLO Evolution</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From Information Verification to Structural Intelligence</a:t>
            </a:r>
            <a:endParaRPr lang="en-US" sz="2400" dirty="0"/>
          </a:p>
        </p:txBody>
      </p:sp>
      <p:sp>
        <p:nvSpPr>
          <p:cNvPr id="5" name="Shape 3"/>
          <p:cNvSpPr/>
          <p:nvPr/>
        </p:nvSpPr>
        <p:spPr>
          <a:xfrm>
            <a:off x="952500" y="3243263"/>
            <a:ext cx="3795713" cy="2284809"/>
          </a:xfrm>
          <a:prstGeom prst="roundRect">
            <a:avLst>
              <a:gd name="adj" fmla="val 1668"/>
            </a:avLst>
          </a:prstGeom>
          <a:solidFill>
            <a:srgbClr val="141B24"/>
          </a:solidFill>
          <a:ln w="9525">
            <a:solidFill>
              <a:srgbClr val="2C333D"/>
            </a:solidFill>
            <a:prstDash val="solid"/>
          </a:ln>
        </p:spPr>
      </p:sp>
      <p:sp>
        <p:nvSpPr>
          <p:cNvPr id="6" name="Text 4"/>
          <p:cNvSpPr/>
          <p:nvPr/>
        </p:nvSpPr>
        <p:spPr>
          <a:xfrm>
            <a:off x="1228725" y="3557588"/>
            <a:ext cx="3567589"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INITIAL FOCUS</a:t>
            </a:r>
            <a:endParaRPr lang="en-US" sz="1350" dirty="0"/>
          </a:p>
        </p:txBody>
      </p:sp>
      <p:sp>
        <p:nvSpPr>
          <p:cNvPr id="7" name="Text 5"/>
          <p:cNvSpPr/>
          <p:nvPr/>
        </p:nvSpPr>
        <p:spPr>
          <a:xfrm>
            <a:off x="1228725" y="3876675"/>
            <a:ext cx="3340560" cy="1040904"/>
          </a:xfrm>
          <a:prstGeom prst="rect">
            <a:avLst/>
          </a:prstGeom>
          <a:noFill/>
          <a:ln/>
        </p:spPr>
        <p:txBody>
          <a:bodyPr wrap="square" lIns="25400" tIns="25400" rIns="25400" bIns="25400" rtlCol="0" anchor="t">
            <a:normAutofit/>
          </a:bodyPr>
          <a:lstStyle/>
          <a:p>
            <a:pPr algn="l" indent="0" marL="0">
              <a:lnSpc>
                <a:spcPct val="106364"/>
              </a:lnSpc>
              <a:buNone/>
            </a:pPr>
            <a:r>
              <a:rPr lang="en-US" sz="1950" dirty="0">
                <a:solidFill>
                  <a:srgbClr val="ECEFF2"/>
                </a:solidFill>
                <a:latin typeface="Space Grotesk" pitchFamily="34" charset="0"/>
                <a:ea typeface="Space Grotesk" pitchFamily="34" charset="-122"/>
                <a:cs typeface="Space Grotesk" pitchFamily="34" charset="-120"/>
              </a:rPr>
              <a:t>Understanding information reliability and evidence quality.</a:t>
            </a:r>
            <a:endParaRPr lang="en-US" sz="1950" dirty="0"/>
          </a:p>
        </p:txBody>
      </p:sp>
      <p:sp>
        <p:nvSpPr>
          <p:cNvPr id="8" name="Text 6"/>
          <p:cNvSpPr/>
          <p:nvPr/>
        </p:nvSpPr>
        <p:spPr>
          <a:xfrm>
            <a:off x="5014913" y="3243263"/>
            <a:ext cx="419100" cy="2322909"/>
          </a:xfrm>
          <a:prstGeom prst="rect">
            <a:avLst/>
          </a:prstGeom>
          <a:noFill/>
          <a:ln/>
        </p:spPr>
        <p:txBody>
          <a:bodyPr wrap="square" lIns="25400" tIns="25400" rIns="25400" bIns="25400" rtlCol="0" anchor="ctr">
            <a:normAutofit/>
          </a:bodyPr>
          <a:lstStyle/>
          <a:p>
            <a:pPr algn="l" indent="0" marL="0">
              <a:buNone/>
            </a:pPr>
            <a:r>
              <a:rPr lang="en-US" sz="2700" dirty="0">
                <a:solidFill>
                  <a:srgbClr val="00D2D3"/>
                </a:solidFill>
                <a:latin typeface="Space Grotesk" pitchFamily="34" charset="0"/>
                <a:ea typeface="Space Grotesk" pitchFamily="34" charset="-122"/>
                <a:cs typeface="Space Grotesk" pitchFamily="34" charset="-120"/>
              </a:rPr>
              <a:t>→</a:t>
            </a:r>
            <a:endParaRPr lang="en-US" sz="2700" dirty="0"/>
          </a:p>
        </p:txBody>
      </p:sp>
      <p:sp>
        <p:nvSpPr>
          <p:cNvPr id="9" name="Shape 7"/>
          <p:cNvSpPr/>
          <p:nvPr/>
        </p:nvSpPr>
        <p:spPr>
          <a:xfrm>
            <a:off x="5624513" y="3243263"/>
            <a:ext cx="7038975" cy="2284809"/>
          </a:xfrm>
          <a:prstGeom prst="roundRect">
            <a:avLst>
              <a:gd name="adj" fmla="val 1668"/>
            </a:avLst>
          </a:prstGeom>
          <a:solidFill>
            <a:srgbClr val="141B24"/>
          </a:solidFill>
          <a:ln w="9525">
            <a:solidFill>
              <a:srgbClr val="2C333D"/>
            </a:solidFill>
            <a:prstDash val="solid"/>
          </a:ln>
        </p:spPr>
      </p:sp>
      <p:sp>
        <p:nvSpPr>
          <p:cNvPr id="10" name="Text 8"/>
          <p:cNvSpPr/>
          <p:nvPr/>
        </p:nvSpPr>
        <p:spPr>
          <a:xfrm>
            <a:off x="5900738" y="3589883"/>
            <a:ext cx="7135178"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REASONING ARCHITECTURE</a:t>
            </a:r>
            <a:endParaRPr lang="en-US" sz="1350" dirty="0"/>
          </a:p>
        </p:txBody>
      </p:sp>
      <p:sp>
        <p:nvSpPr>
          <p:cNvPr id="11" name="Text 9"/>
          <p:cNvSpPr/>
          <p:nvPr/>
        </p:nvSpPr>
        <p:spPr>
          <a:xfrm>
            <a:off x="5900738" y="3985171"/>
            <a:ext cx="7135178"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A staged reasoning pipeline, detailed on the next slide.</a:t>
            </a:r>
            <a:endParaRPr lang="en-US" sz="1650" dirty="0"/>
          </a:p>
        </p:txBody>
      </p:sp>
      <p:sp>
        <p:nvSpPr>
          <p:cNvPr id="12" name="Text 10"/>
          <p:cNvSpPr/>
          <p:nvPr/>
        </p:nvSpPr>
        <p:spPr>
          <a:xfrm>
            <a:off x="5900738" y="4449961"/>
            <a:ext cx="6681121" cy="769590"/>
          </a:xfrm>
          <a:prstGeom prst="rect">
            <a:avLst/>
          </a:prstGeom>
          <a:noFill/>
          <a:ln/>
        </p:spPr>
        <p:txBody>
          <a:bodyPr wrap="square" lIns="25400" tIns="25400" rIns="25400" bIns="25400" rtlCol="0" anchor="t">
            <a:normAutofit/>
          </a:bodyPr>
          <a:lstStyle/>
          <a:p>
            <a:pPr algn="l" indent="0" marL="0">
              <a:lnSpc>
                <a:spcPct val="123871"/>
              </a:lnSpc>
              <a:buNone/>
            </a:pPr>
            <a:r>
              <a:rPr lang="en-US" sz="1800" dirty="0">
                <a:solidFill>
                  <a:srgbClr val="ECEFF2"/>
                </a:solidFill>
                <a:latin typeface="IBM Plex Mono" pitchFamily="34" charset="0"/>
                <a:ea typeface="IBM Plex Mono" pitchFamily="34" charset="-122"/>
                <a:cs typeface="IBM Plex Mono" pitchFamily="34" charset="-120"/>
              </a:rPr>
              <a:t>CI-F → CI-R → RBCS → LFOS → IB → Decision → Execution → Feedback → Calibration</a:t>
            </a:r>
            <a:endParaRPr lang="en-US" sz="1800" dirty="0"/>
          </a:p>
        </p:txBody>
      </p:sp>
      <p:sp>
        <p:nvSpPr>
          <p:cNvPr id="13" name="Text 11"/>
          <p:cNvSpPr/>
          <p:nvPr/>
        </p:nvSpPr>
        <p:spPr>
          <a:xfrm>
            <a:off x="12930188" y="3243263"/>
            <a:ext cx="419100" cy="2322909"/>
          </a:xfrm>
          <a:prstGeom prst="rect">
            <a:avLst/>
          </a:prstGeom>
          <a:noFill/>
          <a:ln/>
        </p:spPr>
        <p:txBody>
          <a:bodyPr wrap="square" lIns="25400" tIns="25400" rIns="25400" bIns="25400" rtlCol="0" anchor="ctr">
            <a:normAutofit/>
          </a:bodyPr>
          <a:lstStyle/>
          <a:p>
            <a:pPr algn="l" indent="0" marL="0">
              <a:buNone/>
            </a:pPr>
            <a:r>
              <a:rPr lang="en-US" sz="2700" dirty="0">
                <a:solidFill>
                  <a:srgbClr val="00D2D3"/>
                </a:solidFill>
                <a:latin typeface="Space Grotesk" pitchFamily="34" charset="0"/>
                <a:ea typeface="Space Grotesk" pitchFamily="34" charset="-122"/>
                <a:cs typeface="Space Grotesk" pitchFamily="34" charset="-120"/>
              </a:rPr>
              <a:t>→</a:t>
            </a:r>
            <a:endParaRPr lang="en-US" sz="2700" dirty="0"/>
          </a:p>
        </p:txBody>
      </p:sp>
      <p:sp>
        <p:nvSpPr>
          <p:cNvPr id="14" name="Shape 12"/>
          <p:cNvSpPr/>
          <p:nvPr/>
        </p:nvSpPr>
        <p:spPr>
          <a:xfrm>
            <a:off x="13539788" y="3243263"/>
            <a:ext cx="3795713" cy="2284809"/>
          </a:xfrm>
          <a:prstGeom prst="roundRect">
            <a:avLst>
              <a:gd name="adj" fmla="val 1668"/>
            </a:avLst>
          </a:prstGeom>
          <a:solidFill>
            <a:srgbClr val="141B24"/>
          </a:solidFill>
          <a:ln w="9525">
            <a:solidFill>
              <a:srgbClr val="2C333D"/>
            </a:solidFill>
            <a:prstDash val="solid"/>
          </a:ln>
        </p:spPr>
      </p:sp>
      <p:sp>
        <p:nvSpPr>
          <p:cNvPr id="15" name="Text 13"/>
          <p:cNvSpPr/>
          <p:nvPr/>
        </p:nvSpPr>
        <p:spPr>
          <a:xfrm>
            <a:off x="13816013" y="3557588"/>
            <a:ext cx="3567589"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CURRENT FOCUS</a:t>
            </a:r>
            <a:endParaRPr lang="en-US" sz="1350" dirty="0"/>
          </a:p>
        </p:txBody>
      </p:sp>
      <p:sp>
        <p:nvSpPr>
          <p:cNvPr id="16" name="Text 14"/>
          <p:cNvSpPr/>
          <p:nvPr/>
        </p:nvSpPr>
        <p:spPr>
          <a:xfrm>
            <a:off x="13816013" y="3876675"/>
            <a:ext cx="3340560" cy="1375172"/>
          </a:xfrm>
          <a:prstGeom prst="rect">
            <a:avLst/>
          </a:prstGeom>
          <a:noFill/>
          <a:ln/>
        </p:spPr>
        <p:txBody>
          <a:bodyPr wrap="square" lIns="25400" tIns="25400" rIns="25400" bIns="25400" rtlCol="0" anchor="t">
            <a:normAutofit/>
          </a:bodyPr>
          <a:lstStyle/>
          <a:p>
            <a:pPr algn="l" indent="0" marL="0">
              <a:lnSpc>
                <a:spcPct val="106364"/>
              </a:lnSpc>
              <a:buNone/>
            </a:pPr>
            <a:r>
              <a:rPr lang="en-US" sz="1950" dirty="0">
                <a:solidFill>
                  <a:srgbClr val="ECEFF2"/>
                </a:solidFill>
                <a:latin typeface="Space Grotesk" pitchFamily="34" charset="0"/>
                <a:ea typeface="Space Grotesk" pitchFamily="34" charset="-122"/>
                <a:cs typeface="Space Grotesk" pitchFamily="34" charset="-120"/>
              </a:rPr>
              <a:t>Detecting relationships, structures, and patterns across complex information environments.</a:t>
            </a:r>
            <a:endParaRPr lang="en-US" sz="1950" dirty="0"/>
          </a:p>
        </p:txBody>
      </p:sp>
      <p:sp>
        <p:nvSpPr>
          <p:cNvPr id="17" name="Shape 15"/>
          <p:cNvSpPr/>
          <p:nvPr/>
        </p:nvSpPr>
        <p:spPr>
          <a:xfrm>
            <a:off x="952500" y="8772525"/>
            <a:ext cx="16383000" cy="9525"/>
          </a:xfrm>
          <a:prstGeom prst="rect">
            <a:avLst/>
          </a:prstGeom>
          <a:solidFill>
            <a:srgbClr val="2C333D"/>
          </a:solidFill>
          <a:ln/>
        </p:spPr>
      </p:sp>
      <p:sp>
        <p:nvSpPr>
          <p:cNvPr id="18" name="Text 16"/>
          <p:cNvSpPr/>
          <p:nvPr/>
        </p:nvSpPr>
        <p:spPr>
          <a:xfrm>
            <a:off x="952500" y="9224963"/>
            <a:ext cx="1634490" cy="285750"/>
          </a:xfrm>
          <a:prstGeom prst="rect">
            <a:avLst/>
          </a:prstGeom>
          <a:noFill/>
          <a:ln/>
        </p:spPr>
        <p:txBody>
          <a:bodyPr wrap="square" lIns="25400" tIns="25400" rIns="25400" bIns="25400" rtlCol="0" anchor="t">
            <a:normAutofit/>
          </a:bodyPr>
          <a:lstStyle/>
          <a:p>
            <a:pPr algn="l" indent="0" marL="0">
              <a:buNone/>
            </a:pPr>
            <a:r>
              <a:rPr lang="en-US" sz="1500" dirty="0">
                <a:solidFill>
                  <a:srgbClr val="00D2D3"/>
                </a:solidFill>
                <a:latin typeface="IBM Plex Mono" pitchFamily="34" charset="0"/>
                <a:ea typeface="IBM Plex Mono" pitchFamily="34" charset="-122"/>
                <a:cs typeface="IBM Plex Mono" pitchFamily="34" charset="-120"/>
              </a:rPr>
              <a:t>KEY PRINCIPLE</a:t>
            </a:r>
            <a:endParaRPr lang="en-US" sz="1500" dirty="0"/>
          </a:p>
        </p:txBody>
      </p:sp>
      <p:sp>
        <p:nvSpPr>
          <p:cNvPr id="19" name="Text 17"/>
          <p:cNvSpPr/>
          <p:nvPr/>
        </p:nvSpPr>
        <p:spPr>
          <a:xfrm>
            <a:off x="2628900" y="9124950"/>
            <a:ext cx="14516576" cy="438150"/>
          </a:xfrm>
          <a:prstGeom prst="rect">
            <a:avLst/>
          </a:prstGeom>
          <a:noFill/>
          <a:ln/>
        </p:spPr>
        <p:txBody>
          <a:bodyPr wrap="square" lIns="25400" tIns="25400" rIns="25400" bIns="25400" rtlCol="0" anchor="t">
            <a:normAutofit/>
          </a:bodyPr>
          <a:lstStyle/>
          <a:p>
            <a:pPr algn="l" indent="0" marL="0">
              <a:lnSpc>
                <a:spcPct val="109091"/>
              </a:lnSpc>
              <a:buNone/>
            </a:pPr>
            <a:r>
              <a:rPr lang="en-US" sz="2250" i="1" dirty="0">
                <a:solidFill>
                  <a:srgbClr val="ECEFF2"/>
                </a:solidFill>
                <a:latin typeface="Space Grotesk" pitchFamily="34" charset="0"/>
                <a:ea typeface="Space Grotesk" pitchFamily="34" charset="-122"/>
                <a:cs typeface="Space Grotesk" pitchFamily="34" charset="-120"/>
              </a:rPr>
              <a:t>KRYLO is designed to preserve evidence, trace reasoning, and reduce unsupported conclusions.</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04 — ARCHITECTURE</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Reasoning Architecture</a:t>
            </a:r>
            <a:endParaRPr lang="en-US" sz="4800" dirty="0"/>
          </a:p>
        </p:txBody>
      </p:sp>
      <p:sp>
        <p:nvSpPr>
          <p:cNvPr id="4" name="Text 2"/>
          <p:cNvSpPr/>
          <p:nvPr/>
        </p:nvSpPr>
        <p:spPr>
          <a:xfrm>
            <a:off x="952500" y="2319338"/>
            <a:ext cx="14716125" cy="891480"/>
          </a:xfrm>
          <a:prstGeom prst="rect">
            <a:avLst/>
          </a:prstGeom>
          <a:noFill/>
          <a:ln/>
        </p:spPr>
        <p:txBody>
          <a:bodyPr wrap="square" lIns="25400" tIns="25400" rIns="25400" bIns="25400" rtlCol="0" anchor="t">
            <a:normAutofit/>
          </a:bodyPr>
          <a:lstStyle/>
          <a:p>
            <a:pPr algn="l" indent="0" marL="0">
              <a:lnSpc>
                <a:spcPct val="109268"/>
              </a:lnSpc>
              <a:buNone/>
            </a:pPr>
            <a:r>
              <a:rPr lang="en-US" sz="2400" dirty="0">
                <a:solidFill>
                  <a:srgbClr val="9CA5B1"/>
                </a:solidFill>
                <a:latin typeface="Space Grotesk" pitchFamily="34" charset="0"/>
                <a:ea typeface="Space Grotesk" pitchFamily="34" charset="-122"/>
                <a:cs typeface="Space Grotesk" pitchFamily="34" charset="-120"/>
              </a:rPr>
              <a:t>A staged reasoning architecture where each layer performs a distinct analytical function under defined constraints.</a:t>
            </a:r>
            <a:endParaRPr lang="en-US" sz="2400" dirty="0"/>
          </a:p>
        </p:txBody>
      </p:sp>
      <p:sp>
        <p:nvSpPr>
          <p:cNvPr id="5" name="Shape 3"/>
          <p:cNvSpPr/>
          <p:nvPr/>
        </p:nvSpPr>
        <p:spPr>
          <a:xfrm>
            <a:off x="952500" y="3439418"/>
            <a:ext cx="16383000" cy="6800106"/>
          </a:xfrm>
          <a:prstGeom prst="roundRect">
            <a:avLst>
              <a:gd name="adj" fmla="val 560"/>
            </a:avLst>
          </a:prstGeom>
          <a:ln w="9525">
            <a:solidFill>
              <a:srgbClr val="2C333D"/>
            </a:solidFill>
            <a:prstDash val="solid"/>
          </a:ln>
        </p:spPr>
      </p:sp>
      <p:sp>
        <p:nvSpPr>
          <p:cNvPr id="6" name="Shape 4"/>
          <p:cNvSpPr/>
          <p:nvPr/>
        </p:nvSpPr>
        <p:spPr>
          <a:xfrm>
            <a:off x="962025" y="3448943"/>
            <a:ext cx="16363950" cy="476250"/>
          </a:xfrm>
          <a:prstGeom prst="rect">
            <a:avLst/>
          </a:prstGeom>
          <a:solidFill>
            <a:srgbClr val="141B24"/>
          </a:solidFill>
          <a:ln/>
        </p:spPr>
      </p:sp>
      <p:sp>
        <p:nvSpPr>
          <p:cNvPr id="7" name="Text 5"/>
          <p:cNvSpPr/>
          <p:nvPr/>
        </p:nvSpPr>
        <p:spPr>
          <a:xfrm>
            <a:off x="1228725" y="3563243"/>
            <a:ext cx="3482705" cy="285750"/>
          </a:xfrm>
          <a:prstGeom prst="rect">
            <a:avLst/>
          </a:prstGeom>
          <a:noFill/>
          <a:ln/>
        </p:spPr>
        <p:txBody>
          <a:bodyPr wrap="square" lIns="25400" tIns="25400" rIns="25400" bIns="25400" rtlCol="0" anchor="t">
            <a:normAutofit/>
          </a:bodyPr>
          <a:lstStyle/>
          <a:p>
            <a:pPr algn="l" indent="0" marL="0">
              <a:buNone/>
            </a:pPr>
            <a:r>
              <a:rPr lang="en-US" sz="1500" spc="90" kern="0" dirty="0">
                <a:solidFill>
                  <a:srgbClr val="00D2D3"/>
                </a:solidFill>
                <a:latin typeface="IBM Plex Mono" pitchFamily="34" charset="0"/>
                <a:ea typeface="IBM Plex Mono" pitchFamily="34" charset="-122"/>
                <a:cs typeface="IBM Plex Mono" pitchFamily="34" charset="-120"/>
              </a:rPr>
              <a:t>COMPONENT</a:t>
            </a:r>
            <a:endParaRPr lang="en-US" sz="1500" dirty="0"/>
          </a:p>
        </p:txBody>
      </p:sp>
      <p:sp>
        <p:nvSpPr>
          <p:cNvPr id="8" name="Text 6"/>
          <p:cNvSpPr/>
          <p:nvPr/>
        </p:nvSpPr>
        <p:spPr>
          <a:xfrm>
            <a:off x="4394820" y="3563243"/>
            <a:ext cx="7739353" cy="285750"/>
          </a:xfrm>
          <a:prstGeom prst="rect">
            <a:avLst/>
          </a:prstGeom>
          <a:noFill/>
          <a:ln/>
        </p:spPr>
        <p:txBody>
          <a:bodyPr wrap="square" lIns="25400" tIns="25400" rIns="25400" bIns="25400" rtlCol="0" anchor="t">
            <a:normAutofit/>
          </a:bodyPr>
          <a:lstStyle/>
          <a:p>
            <a:pPr algn="l" indent="0" marL="0">
              <a:buNone/>
            </a:pPr>
            <a:r>
              <a:rPr lang="en-US" sz="1500" spc="90" kern="0" dirty="0">
                <a:solidFill>
                  <a:srgbClr val="00D2D3"/>
                </a:solidFill>
                <a:latin typeface="IBM Plex Mono" pitchFamily="34" charset="0"/>
                <a:ea typeface="IBM Plex Mono" pitchFamily="34" charset="-122"/>
                <a:cs typeface="IBM Plex Mono" pitchFamily="34" charset="-120"/>
              </a:rPr>
              <a:t>DEFINITION</a:t>
            </a:r>
            <a:endParaRPr lang="en-US" sz="1500" dirty="0"/>
          </a:p>
        </p:txBody>
      </p:sp>
      <p:sp>
        <p:nvSpPr>
          <p:cNvPr id="9" name="Text 7"/>
          <p:cNvSpPr/>
          <p:nvPr/>
        </p:nvSpPr>
        <p:spPr>
          <a:xfrm>
            <a:off x="11430595" y="3563243"/>
            <a:ext cx="6191548" cy="285750"/>
          </a:xfrm>
          <a:prstGeom prst="rect">
            <a:avLst/>
          </a:prstGeom>
          <a:noFill/>
          <a:ln/>
        </p:spPr>
        <p:txBody>
          <a:bodyPr wrap="square" lIns="25400" tIns="25400" rIns="25400" bIns="25400" rtlCol="0" anchor="t">
            <a:normAutofit/>
          </a:bodyPr>
          <a:lstStyle/>
          <a:p>
            <a:pPr algn="l" indent="0" marL="0">
              <a:buNone/>
            </a:pPr>
            <a:r>
              <a:rPr lang="en-US" sz="1500" spc="90" kern="0" dirty="0">
                <a:solidFill>
                  <a:srgbClr val="00D2D3"/>
                </a:solidFill>
                <a:latin typeface="IBM Plex Mono" pitchFamily="34" charset="0"/>
                <a:ea typeface="IBM Plex Mono" pitchFamily="34" charset="-122"/>
                <a:cs typeface="IBM Plex Mono" pitchFamily="34" charset="-120"/>
              </a:rPr>
              <a:t>ROLE IN PIPELINE</a:t>
            </a:r>
            <a:endParaRPr lang="en-US" sz="1500" dirty="0"/>
          </a:p>
        </p:txBody>
      </p:sp>
      <p:sp>
        <p:nvSpPr>
          <p:cNvPr id="10" name="Shape 8"/>
          <p:cNvSpPr/>
          <p:nvPr/>
        </p:nvSpPr>
        <p:spPr>
          <a:xfrm>
            <a:off x="962025" y="3925193"/>
            <a:ext cx="16363950" cy="9525"/>
          </a:xfrm>
          <a:prstGeom prst="rect">
            <a:avLst/>
          </a:prstGeom>
          <a:solidFill>
            <a:srgbClr val="2C333D"/>
          </a:solidFill>
          <a:ln/>
        </p:spPr>
      </p:sp>
      <p:sp>
        <p:nvSpPr>
          <p:cNvPr id="11" name="Text 9"/>
          <p:cNvSpPr/>
          <p:nvPr/>
        </p:nvSpPr>
        <p:spPr>
          <a:xfrm>
            <a:off x="1228725" y="4049018"/>
            <a:ext cx="504974" cy="328613"/>
          </a:xfrm>
          <a:prstGeom prst="rect">
            <a:avLst/>
          </a:prstGeom>
          <a:noFill/>
          <a:ln/>
        </p:spPr>
        <p:txBody>
          <a:bodyPr wrap="square" lIns="0" tIns="0" rIns="0" bIns="0" rtlCol="0" anchor="t">
            <a:normAutofit/>
          </a:bodyPr>
          <a:lstStyle/>
          <a:p>
            <a:pPr algn="l" indent="0" marL="0">
              <a:lnSpc>
                <a:spcPct val="96000"/>
              </a:lnSpc>
              <a:buNone/>
            </a:pPr>
            <a:r>
              <a:rPr lang="en-US" sz="1800" b="1" dirty="0">
                <a:solidFill>
                  <a:srgbClr val="ECEFF2"/>
                </a:solidFill>
                <a:latin typeface="Space Grotesk" pitchFamily="34" charset="0"/>
                <a:ea typeface="Space Grotesk" pitchFamily="34" charset="-122"/>
                <a:cs typeface="Space Grotesk" pitchFamily="34" charset="-120"/>
              </a:rPr>
              <a:t>CI-F</a:t>
            </a:r>
            <a:endParaRPr lang="en-US" sz="1800" dirty="0"/>
          </a:p>
        </p:txBody>
      </p:sp>
      <p:sp>
        <p:nvSpPr>
          <p:cNvPr id="12" name="Text 10"/>
          <p:cNvSpPr/>
          <p:nvPr/>
        </p:nvSpPr>
        <p:spPr>
          <a:xfrm>
            <a:off x="1228725" y="4375472"/>
            <a:ext cx="3315065" cy="247204"/>
          </a:xfrm>
          <a:prstGeom prst="rect">
            <a:avLst/>
          </a:prstGeom>
          <a:noFill/>
          <a:ln/>
        </p:spPr>
        <p:txBody>
          <a:bodyPr wrap="square" lIns="25400" tIns="25400" rIns="25400" bIns="25400" rtlCol="0" anchor="t">
            <a:normAutofit/>
          </a:bodyPr>
          <a:lstStyle/>
          <a:p>
            <a:pPr algn="l" indent="0" marL="0">
              <a:lnSpc>
                <a:spcPct val="95478"/>
              </a:lnSpc>
              <a:buNone/>
            </a:pPr>
            <a:r>
              <a:rPr lang="en-US" sz="1350" dirty="0">
                <a:solidFill>
                  <a:srgbClr val="9CA5B1"/>
                </a:solidFill>
                <a:latin typeface="Space Grotesk" pitchFamily="34" charset="0"/>
                <a:ea typeface="Space Grotesk" pitchFamily="34" charset="-122"/>
                <a:cs typeface="Space Grotesk" pitchFamily="34" charset="-120"/>
              </a:rPr>
              <a:t>Causal Inference Formation Engine</a:t>
            </a:r>
            <a:endParaRPr lang="en-US" sz="1350" dirty="0"/>
          </a:p>
        </p:txBody>
      </p:sp>
      <p:sp>
        <p:nvSpPr>
          <p:cNvPr id="13" name="Text 11"/>
          <p:cNvSpPr/>
          <p:nvPr/>
        </p:nvSpPr>
        <p:spPr>
          <a:xfrm>
            <a:off x="4394820" y="4058543"/>
            <a:ext cx="7018248" cy="115341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Causal Expansion System — expands an initial knowledge claim into candidate causal structures by traversing the knowledge store and identifying evidence-backed relationships.</a:t>
            </a:r>
            <a:endParaRPr lang="en-US" sz="1800" dirty="0"/>
          </a:p>
        </p:txBody>
      </p:sp>
      <p:sp>
        <p:nvSpPr>
          <p:cNvPr id="14" name="Text 12"/>
          <p:cNvSpPr/>
          <p:nvPr/>
        </p:nvSpPr>
        <p:spPr>
          <a:xfrm>
            <a:off x="11430595" y="4058543"/>
            <a:ext cx="5797540" cy="115341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Produces candidate causal graphs for validation.</a:t>
            </a:r>
            <a:endParaRPr lang="en-US" sz="1800" dirty="0"/>
          </a:p>
        </p:txBody>
      </p:sp>
      <p:sp>
        <p:nvSpPr>
          <p:cNvPr id="15" name="Shape 13"/>
          <p:cNvSpPr/>
          <p:nvPr/>
        </p:nvSpPr>
        <p:spPr>
          <a:xfrm>
            <a:off x="962025" y="5297686"/>
            <a:ext cx="16363950" cy="9525"/>
          </a:xfrm>
          <a:prstGeom prst="rect">
            <a:avLst/>
          </a:prstGeom>
          <a:solidFill>
            <a:srgbClr val="2C333D"/>
          </a:solidFill>
          <a:ln/>
        </p:spPr>
      </p:sp>
      <p:sp>
        <p:nvSpPr>
          <p:cNvPr id="16" name="Text 14"/>
          <p:cNvSpPr/>
          <p:nvPr/>
        </p:nvSpPr>
        <p:spPr>
          <a:xfrm>
            <a:off x="1228725" y="5421511"/>
            <a:ext cx="527000" cy="328613"/>
          </a:xfrm>
          <a:prstGeom prst="rect">
            <a:avLst/>
          </a:prstGeom>
          <a:noFill/>
          <a:ln/>
        </p:spPr>
        <p:txBody>
          <a:bodyPr wrap="square" lIns="0" tIns="0" rIns="0" bIns="0" rtlCol="0" anchor="t">
            <a:normAutofit/>
          </a:bodyPr>
          <a:lstStyle/>
          <a:p>
            <a:pPr algn="l" indent="0" marL="0">
              <a:lnSpc>
                <a:spcPct val="96000"/>
              </a:lnSpc>
              <a:buNone/>
            </a:pPr>
            <a:r>
              <a:rPr lang="en-US" sz="1800" b="1" dirty="0">
                <a:solidFill>
                  <a:srgbClr val="ECEFF2"/>
                </a:solidFill>
                <a:latin typeface="Space Grotesk" pitchFamily="34" charset="0"/>
                <a:ea typeface="Space Grotesk" pitchFamily="34" charset="-122"/>
                <a:cs typeface="Space Grotesk" pitchFamily="34" charset="-120"/>
              </a:rPr>
              <a:t>CI-R</a:t>
            </a:r>
            <a:endParaRPr lang="en-US" sz="1800" dirty="0"/>
          </a:p>
        </p:txBody>
      </p:sp>
      <p:sp>
        <p:nvSpPr>
          <p:cNvPr id="17" name="Text 15"/>
          <p:cNvSpPr/>
          <p:nvPr/>
        </p:nvSpPr>
        <p:spPr>
          <a:xfrm>
            <a:off x="1228725" y="5747965"/>
            <a:ext cx="3315065" cy="247204"/>
          </a:xfrm>
          <a:prstGeom prst="rect">
            <a:avLst/>
          </a:prstGeom>
          <a:noFill/>
          <a:ln/>
        </p:spPr>
        <p:txBody>
          <a:bodyPr wrap="square" lIns="25400" tIns="25400" rIns="25400" bIns="25400" rtlCol="0" anchor="t">
            <a:normAutofit/>
          </a:bodyPr>
          <a:lstStyle/>
          <a:p>
            <a:pPr algn="l" indent="0" marL="0">
              <a:lnSpc>
                <a:spcPct val="95478"/>
              </a:lnSpc>
              <a:buNone/>
            </a:pPr>
            <a:r>
              <a:rPr lang="en-US" sz="1350" dirty="0">
                <a:solidFill>
                  <a:srgbClr val="9CA5B1"/>
                </a:solidFill>
                <a:latin typeface="Space Grotesk" pitchFamily="34" charset="0"/>
                <a:ea typeface="Space Grotesk" pitchFamily="34" charset="-122"/>
                <a:cs typeface="Space Grotesk" pitchFamily="34" charset="-120"/>
              </a:rPr>
              <a:t>Causal Inference Reality Validator</a:t>
            </a:r>
            <a:endParaRPr lang="en-US" sz="1350" dirty="0"/>
          </a:p>
        </p:txBody>
      </p:sp>
      <p:sp>
        <p:nvSpPr>
          <p:cNvPr id="18" name="Text 16"/>
          <p:cNvSpPr/>
          <p:nvPr/>
        </p:nvSpPr>
        <p:spPr>
          <a:xfrm>
            <a:off x="4394820" y="5431036"/>
            <a:ext cx="7018248" cy="115341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Constitutional Validation Gate — performs binary validation of candidate causal structures against three immutable constraints: edge legality, temporal legality, and evidence-anchor coverage.</a:t>
            </a:r>
            <a:endParaRPr lang="en-US" sz="1800" dirty="0"/>
          </a:p>
        </p:txBody>
      </p:sp>
      <p:sp>
        <p:nvSpPr>
          <p:cNvPr id="19" name="Text 17"/>
          <p:cNvSpPr/>
          <p:nvPr/>
        </p:nvSpPr>
        <p:spPr>
          <a:xfrm>
            <a:off x="11430595" y="5431036"/>
            <a:ext cx="5797540" cy="115341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Rejects invalid branches before scoring.</a:t>
            </a:r>
            <a:endParaRPr lang="en-US" sz="1800" dirty="0"/>
          </a:p>
        </p:txBody>
      </p:sp>
      <p:sp>
        <p:nvSpPr>
          <p:cNvPr id="20" name="Shape 18"/>
          <p:cNvSpPr/>
          <p:nvPr/>
        </p:nvSpPr>
        <p:spPr>
          <a:xfrm>
            <a:off x="962025" y="6670179"/>
            <a:ext cx="16363950" cy="9525"/>
          </a:xfrm>
          <a:prstGeom prst="rect">
            <a:avLst/>
          </a:prstGeom>
          <a:solidFill>
            <a:srgbClr val="2C333D"/>
          </a:solidFill>
          <a:ln/>
        </p:spPr>
      </p:sp>
      <p:sp>
        <p:nvSpPr>
          <p:cNvPr id="21" name="Text 19"/>
          <p:cNvSpPr/>
          <p:nvPr/>
        </p:nvSpPr>
        <p:spPr>
          <a:xfrm>
            <a:off x="1228725" y="6794004"/>
            <a:ext cx="658341" cy="328613"/>
          </a:xfrm>
          <a:prstGeom prst="rect">
            <a:avLst/>
          </a:prstGeom>
          <a:noFill/>
          <a:ln/>
        </p:spPr>
        <p:txBody>
          <a:bodyPr wrap="square" lIns="0" tIns="0" rIns="0" bIns="0" rtlCol="0" anchor="t">
            <a:normAutofit/>
          </a:bodyPr>
          <a:lstStyle/>
          <a:p>
            <a:pPr algn="l" indent="0" marL="0">
              <a:lnSpc>
                <a:spcPct val="96000"/>
              </a:lnSpc>
              <a:buNone/>
            </a:pPr>
            <a:r>
              <a:rPr lang="en-US" sz="1800" b="1" dirty="0">
                <a:solidFill>
                  <a:srgbClr val="ECEFF2"/>
                </a:solidFill>
                <a:latin typeface="Space Grotesk" pitchFamily="34" charset="0"/>
                <a:ea typeface="Space Grotesk" pitchFamily="34" charset="-122"/>
                <a:cs typeface="Space Grotesk" pitchFamily="34" charset="-120"/>
              </a:rPr>
              <a:t>RBCS</a:t>
            </a:r>
            <a:endParaRPr lang="en-US" sz="1800" dirty="0"/>
          </a:p>
        </p:txBody>
      </p:sp>
      <p:sp>
        <p:nvSpPr>
          <p:cNvPr id="22" name="Text 20"/>
          <p:cNvSpPr/>
          <p:nvPr/>
        </p:nvSpPr>
        <p:spPr>
          <a:xfrm>
            <a:off x="1228725" y="7120458"/>
            <a:ext cx="3315065" cy="247204"/>
          </a:xfrm>
          <a:prstGeom prst="rect">
            <a:avLst/>
          </a:prstGeom>
          <a:noFill/>
          <a:ln/>
        </p:spPr>
        <p:txBody>
          <a:bodyPr wrap="square" lIns="25400" tIns="25400" rIns="25400" bIns="25400" rtlCol="0" anchor="t">
            <a:normAutofit/>
          </a:bodyPr>
          <a:lstStyle/>
          <a:p>
            <a:pPr algn="l" indent="0" marL="0">
              <a:lnSpc>
                <a:spcPct val="95478"/>
              </a:lnSpc>
              <a:buNone/>
            </a:pPr>
            <a:r>
              <a:rPr lang="en-US" sz="1350" dirty="0">
                <a:solidFill>
                  <a:srgbClr val="9CA5B1"/>
                </a:solidFill>
                <a:latin typeface="Space Grotesk" pitchFamily="34" charset="0"/>
                <a:ea typeface="Space Grotesk" pitchFamily="34" charset="-122"/>
                <a:cs typeface="Space Grotesk" pitchFamily="34" charset="-120"/>
              </a:rPr>
              <a:t>Reality Branch Convergence Score</a:t>
            </a:r>
            <a:endParaRPr lang="en-US" sz="1350" dirty="0"/>
          </a:p>
        </p:txBody>
      </p:sp>
      <p:sp>
        <p:nvSpPr>
          <p:cNvPr id="23" name="Text 21"/>
          <p:cNvSpPr/>
          <p:nvPr/>
        </p:nvSpPr>
        <p:spPr>
          <a:xfrm>
            <a:off x="4394820" y="6803529"/>
            <a:ext cx="7018248" cy="115341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Branch Scoring Engine — scores only branches admitted by CI-R using a weighted geometric model across five independent factors: temporal advantage, divergence, cross-domain coupling, amplification, and volatility.</a:t>
            </a:r>
            <a:endParaRPr lang="en-US" sz="1800" dirty="0"/>
          </a:p>
        </p:txBody>
      </p:sp>
      <p:sp>
        <p:nvSpPr>
          <p:cNvPr id="24" name="Text 22"/>
          <p:cNvSpPr/>
          <p:nvPr/>
        </p:nvSpPr>
        <p:spPr>
          <a:xfrm>
            <a:off x="11430595" y="6803529"/>
            <a:ext cx="5797540" cy="115341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Produces ranked candidate branches.</a:t>
            </a:r>
            <a:endParaRPr lang="en-US" sz="1800" dirty="0"/>
          </a:p>
        </p:txBody>
      </p:sp>
      <p:sp>
        <p:nvSpPr>
          <p:cNvPr id="25" name="Shape 23"/>
          <p:cNvSpPr/>
          <p:nvPr/>
        </p:nvSpPr>
        <p:spPr>
          <a:xfrm>
            <a:off x="962025" y="8042672"/>
            <a:ext cx="16363950" cy="9525"/>
          </a:xfrm>
          <a:prstGeom prst="rect">
            <a:avLst/>
          </a:prstGeom>
          <a:solidFill>
            <a:srgbClr val="2C333D"/>
          </a:solidFill>
          <a:ln/>
        </p:spPr>
      </p:sp>
      <p:sp>
        <p:nvSpPr>
          <p:cNvPr id="26" name="Text 24"/>
          <p:cNvSpPr/>
          <p:nvPr/>
        </p:nvSpPr>
        <p:spPr>
          <a:xfrm>
            <a:off x="1228725" y="8166497"/>
            <a:ext cx="614363" cy="328613"/>
          </a:xfrm>
          <a:prstGeom prst="rect">
            <a:avLst/>
          </a:prstGeom>
          <a:noFill/>
          <a:ln/>
        </p:spPr>
        <p:txBody>
          <a:bodyPr wrap="square" lIns="0" tIns="0" rIns="0" bIns="0" rtlCol="0" anchor="t">
            <a:normAutofit/>
          </a:bodyPr>
          <a:lstStyle/>
          <a:p>
            <a:pPr algn="l" indent="0" marL="0">
              <a:lnSpc>
                <a:spcPct val="96000"/>
              </a:lnSpc>
              <a:buNone/>
            </a:pPr>
            <a:r>
              <a:rPr lang="en-US" sz="1800" b="1" dirty="0">
                <a:solidFill>
                  <a:srgbClr val="ECEFF2"/>
                </a:solidFill>
                <a:latin typeface="Space Grotesk" pitchFamily="34" charset="0"/>
                <a:ea typeface="Space Grotesk" pitchFamily="34" charset="-122"/>
                <a:cs typeface="Space Grotesk" pitchFamily="34" charset="-120"/>
              </a:rPr>
              <a:t>LFOS</a:t>
            </a:r>
            <a:endParaRPr lang="en-US" sz="1800" dirty="0"/>
          </a:p>
        </p:txBody>
      </p:sp>
      <p:sp>
        <p:nvSpPr>
          <p:cNvPr id="27" name="Text 25"/>
          <p:cNvSpPr/>
          <p:nvPr/>
        </p:nvSpPr>
        <p:spPr>
          <a:xfrm>
            <a:off x="1228725" y="8492951"/>
            <a:ext cx="3104106" cy="456307"/>
          </a:xfrm>
          <a:prstGeom prst="rect">
            <a:avLst/>
          </a:prstGeom>
          <a:noFill/>
          <a:ln/>
        </p:spPr>
        <p:txBody>
          <a:bodyPr wrap="square" lIns="25400" tIns="25400" rIns="25400" bIns="25400" rtlCol="0" anchor="t">
            <a:normAutofit/>
          </a:bodyPr>
          <a:lstStyle/>
          <a:p>
            <a:pPr algn="l" indent="0" marL="0">
              <a:lnSpc>
                <a:spcPct val="95478"/>
              </a:lnSpc>
              <a:buNone/>
            </a:pPr>
            <a:r>
              <a:rPr lang="en-US" sz="1350" dirty="0">
                <a:solidFill>
                  <a:srgbClr val="9CA5B1"/>
                </a:solidFill>
                <a:latin typeface="Space Grotesk" pitchFamily="34" charset="0"/>
                <a:ea typeface="Space Grotesk" pitchFamily="34" charset="-122"/>
                <a:cs typeface="Space Grotesk" pitchFamily="34" charset="-120"/>
              </a:rPr>
              <a:t>Lifecycle Forecasting &amp; Outcome Simulation</a:t>
            </a:r>
            <a:endParaRPr lang="en-US" sz="1350" dirty="0"/>
          </a:p>
        </p:txBody>
      </p:sp>
      <p:sp>
        <p:nvSpPr>
          <p:cNvPr id="28" name="Text 26"/>
          <p:cNvSpPr/>
          <p:nvPr/>
        </p:nvSpPr>
        <p:spPr>
          <a:xfrm>
            <a:off x="4394820" y="8176022"/>
            <a:ext cx="7018248" cy="87458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Propagation Physics Engine — models how validated branches propagate, compound, decay, or stabilize through the graph over time.</a:t>
            </a:r>
            <a:endParaRPr lang="en-US" sz="1800" dirty="0"/>
          </a:p>
        </p:txBody>
      </p:sp>
      <p:sp>
        <p:nvSpPr>
          <p:cNvPr id="29" name="Text 27"/>
          <p:cNvSpPr/>
          <p:nvPr/>
        </p:nvSpPr>
        <p:spPr>
          <a:xfrm>
            <a:off x="11430595" y="8176022"/>
            <a:ext cx="5797540" cy="87458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Adds survival probability and stability metrics.</a:t>
            </a:r>
            <a:endParaRPr lang="en-US" sz="1800" dirty="0"/>
          </a:p>
        </p:txBody>
      </p:sp>
      <p:sp>
        <p:nvSpPr>
          <p:cNvPr id="30" name="Shape 28"/>
          <p:cNvSpPr/>
          <p:nvPr/>
        </p:nvSpPr>
        <p:spPr>
          <a:xfrm>
            <a:off x="962025" y="9136335"/>
            <a:ext cx="16363950" cy="9525"/>
          </a:xfrm>
          <a:prstGeom prst="rect">
            <a:avLst/>
          </a:prstGeom>
          <a:solidFill>
            <a:srgbClr val="2C333D"/>
          </a:solidFill>
          <a:ln/>
        </p:spPr>
      </p:sp>
      <p:sp>
        <p:nvSpPr>
          <p:cNvPr id="31" name="Text 29"/>
          <p:cNvSpPr/>
          <p:nvPr/>
        </p:nvSpPr>
        <p:spPr>
          <a:xfrm>
            <a:off x="1228725" y="9260160"/>
            <a:ext cx="287089" cy="328613"/>
          </a:xfrm>
          <a:prstGeom prst="rect">
            <a:avLst/>
          </a:prstGeom>
          <a:noFill/>
          <a:ln/>
        </p:spPr>
        <p:txBody>
          <a:bodyPr wrap="square" lIns="0" tIns="0" rIns="0" bIns="0" rtlCol="0" anchor="t">
            <a:normAutofit/>
          </a:bodyPr>
          <a:lstStyle/>
          <a:p>
            <a:pPr algn="l" indent="0" marL="0">
              <a:lnSpc>
                <a:spcPct val="96000"/>
              </a:lnSpc>
              <a:buNone/>
            </a:pPr>
            <a:r>
              <a:rPr lang="en-US" sz="1800" b="1" dirty="0">
                <a:solidFill>
                  <a:srgbClr val="ECEFF2"/>
                </a:solidFill>
                <a:latin typeface="Space Grotesk" pitchFamily="34" charset="0"/>
                <a:ea typeface="Space Grotesk" pitchFamily="34" charset="-122"/>
                <a:cs typeface="Space Grotesk" pitchFamily="34" charset="-120"/>
              </a:rPr>
              <a:t>IB</a:t>
            </a:r>
            <a:endParaRPr lang="en-US" sz="1800" dirty="0"/>
          </a:p>
        </p:txBody>
      </p:sp>
      <p:sp>
        <p:nvSpPr>
          <p:cNvPr id="32" name="Text 30"/>
          <p:cNvSpPr/>
          <p:nvPr/>
        </p:nvSpPr>
        <p:spPr>
          <a:xfrm>
            <a:off x="1228725" y="9586615"/>
            <a:ext cx="3315065" cy="247204"/>
          </a:xfrm>
          <a:prstGeom prst="rect">
            <a:avLst/>
          </a:prstGeom>
          <a:noFill/>
          <a:ln/>
        </p:spPr>
        <p:txBody>
          <a:bodyPr wrap="square" lIns="25400" tIns="25400" rIns="25400" bIns="25400" rtlCol="0" anchor="t">
            <a:normAutofit/>
          </a:bodyPr>
          <a:lstStyle/>
          <a:p>
            <a:pPr algn="l" indent="0" marL="0">
              <a:lnSpc>
                <a:spcPct val="95478"/>
              </a:lnSpc>
              <a:buNone/>
            </a:pPr>
            <a:r>
              <a:rPr lang="en-US" sz="1350" dirty="0">
                <a:solidFill>
                  <a:srgbClr val="9CA5B1"/>
                </a:solidFill>
                <a:latin typeface="Space Grotesk" pitchFamily="34" charset="0"/>
                <a:ea typeface="Space Grotesk" pitchFamily="34" charset="-122"/>
                <a:cs typeface="Space Grotesk" pitchFamily="34" charset="-120"/>
              </a:rPr>
              <a:t>Interpretation Boundary</a:t>
            </a:r>
            <a:endParaRPr lang="en-US" sz="1350" dirty="0"/>
          </a:p>
        </p:txBody>
      </p:sp>
      <p:sp>
        <p:nvSpPr>
          <p:cNvPr id="33" name="Text 31"/>
          <p:cNvSpPr/>
          <p:nvPr/>
        </p:nvSpPr>
        <p:spPr>
          <a:xfrm>
            <a:off x="4394820" y="9269685"/>
            <a:ext cx="7018248" cy="87458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Output Qualification Gate — applies final interpretation constraints: survival threshold filtering, ranking, and output limits.</a:t>
            </a:r>
            <a:endParaRPr lang="en-US" sz="1800" dirty="0"/>
          </a:p>
        </p:txBody>
      </p:sp>
      <p:sp>
        <p:nvSpPr>
          <p:cNvPr id="34" name="Text 32"/>
          <p:cNvSpPr/>
          <p:nvPr/>
        </p:nvSpPr>
        <p:spPr>
          <a:xfrm>
            <a:off x="11430595" y="9269685"/>
            <a:ext cx="5797540" cy="874588"/>
          </a:xfrm>
          <a:prstGeom prst="rect">
            <a:avLst/>
          </a:prstGeom>
          <a:noFill/>
          <a:ln/>
        </p:spPr>
        <p:txBody>
          <a:bodyPr wrap="square" lIns="25400" tIns="25400" rIns="25400" bIns="25400" rtlCol="0" anchor="t">
            <a:normAutofit/>
          </a:bodyPr>
          <a:lstStyle/>
          <a:p>
            <a:pPr algn="l" indent="0" marL="0">
              <a:lnSpc>
                <a:spcPct val="96000"/>
              </a:lnSpc>
              <a:buNone/>
            </a:pPr>
            <a:r>
              <a:rPr lang="en-US" sz="1800" dirty="0">
                <a:solidFill>
                  <a:srgbClr val="9CA5B1"/>
                </a:solidFill>
                <a:latin typeface="Space Grotesk" pitchFamily="34" charset="0"/>
                <a:ea typeface="Space Grotesk" pitchFamily="34" charset="-122"/>
                <a:cs typeface="Space Grotesk" pitchFamily="34" charset="-120"/>
              </a:rPr>
              <a:t>Presents results to users.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05 — FOUNDATION</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Current Technical Foundation</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Evidence-Based Intelligence Architecture</a:t>
            </a:r>
            <a:endParaRPr lang="en-US" sz="2400" dirty="0"/>
          </a:p>
        </p:txBody>
      </p:sp>
      <p:sp>
        <p:nvSpPr>
          <p:cNvPr id="5" name="Shape 3"/>
          <p:cNvSpPr/>
          <p:nvPr/>
        </p:nvSpPr>
        <p:spPr>
          <a:xfrm>
            <a:off x="952500" y="2900363"/>
            <a:ext cx="16383000" cy="1304925"/>
          </a:xfrm>
          <a:prstGeom prst="roundRect">
            <a:avLst>
              <a:gd name="adj" fmla="val 2920"/>
            </a:avLst>
          </a:prstGeom>
          <a:solidFill>
            <a:srgbClr val="141B24"/>
          </a:solidFill>
          <a:ln w="9525">
            <a:solidFill>
              <a:srgbClr val="2C333D"/>
            </a:solidFill>
            <a:prstDash val="solid"/>
          </a:ln>
        </p:spPr>
      </p:sp>
      <p:sp>
        <p:nvSpPr>
          <p:cNvPr id="6" name="Text 4"/>
          <p:cNvSpPr/>
          <p:nvPr/>
        </p:nvSpPr>
        <p:spPr>
          <a:xfrm>
            <a:off x="1228725" y="3081338"/>
            <a:ext cx="16322040" cy="981075"/>
          </a:xfrm>
          <a:prstGeom prst="rect">
            <a:avLst/>
          </a:prstGeom>
          <a:noFill/>
          <a:ln/>
        </p:spPr>
        <p:txBody>
          <a:bodyPr wrap="square" lIns="25400" tIns="25400" rIns="25400" bIns="25400" rtlCol="0" anchor="t">
            <a:normAutofit/>
          </a:bodyPr>
          <a:lstStyle/>
          <a:p>
            <a:pPr algn="l" indent="0" marL="0">
              <a:lnSpc>
                <a:spcPct val="117857"/>
              </a:lnSpc>
              <a:buNone/>
            </a:pPr>
            <a:r>
              <a:rPr lang="en-US" sz="1650" dirty="0">
                <a:solidFill>
                  <a:srgbClr val="9CA5B1"/>
                </a:solidFill>
                <a:highlight>
                  <a:srgbClr val="141B24"/>
                </a:highlight>
                <a:latin typeface="Space Grotesk" pitchFamily="34" charset="0"/>
                <a:ea typeface="Space Grotesk" pitchFamily="34" charset="-122"/>
                <a:cs typeface="Space Grotesk" pitchFamily="34" charset="-120"/>
              </a:rPr>
              <a:t>Implementation status: </a:t>
            </a:r>
            <a:pPr algn="l" indent="0" marL="0">
              <a:lnSpc>
                <a:spcPct val="117857"/>
              </a:lnSpc>
              <a:buNone/>
            </a:pPr>
            <a:r>
              <a:rPr lang="en-US" sz="1650" b="1" dirty="0">
                <a:solidFill>
                  <a:srgbClr val="FFFFFF"/>
                </a:solidFill>
                <a:latin typeface="Space Grotesk" pitchFamily="34" charset="0"/>
                <a:ea typeface="Space Grotesk" pitchFamily="34" charset="-122"/>
                <a:cs typeface="Space Grotesk" pitchFamily="34" charset="-120"/>
              </a:rPr>
              <a:t>CI-F, CI-R, and RBCS are implemented and confirmed executing against live production data as of August 2026 </a:t>
            </a:r>
            <a:pPr algn="l" indent="0" marL="0">
              <a:lnSpc>
                <a:spcPct val="117857"/>
              </a:lnSpc>
              <a:buNone/>
            </a:pPr>
            <a:r>
              <a:rPr lang="en-US" sz="1650" dirty="0">
                <a:solidFill>
                  <a:srgbClr val="9CA5B1"/>
                </a:solidFill>
                <a:highlight>
                  <a:srgbClr val="141B24"/>
                </a:highlight>
                <a:latin typeface="Space Grotesk" pitchFamily="34" charset="0"/>
                <a:ea typeface="Space Grotesk" pitchFamily="34" charset="-122"/>
                <a:cs typeface="Space Grotesk" pitchFamily="34" charset="-120"/>
              </a:rPr>
              <a:t>. LFOS, IB, Decision, Execution, Feedback, and Calibration are implemented as standalone code but not yet connected to the live system — built and correct, awaiting integration.</a:t>
            </a:r>
            <a:endParaRPr lang="en-US" sz="1650" dirty="0"/>
          </a:p>
        </p:txBody>
      </p:sp>
      <p:sp>
        <p:nvSpPr>
          <p:cNvPr id="7" name="Shape 5"/>
          <p:cNvSpPr/>
          <p:nvPr/>
        </p:nvSpPr>
        <p:spPr>
          <a:xfrm>
            <a:off x="952500" y="4624388"/>
            <a:ext cx="8058150" cy="2374106"/>
          </a:xfrm>
          <a:prstGeom prst="roundRect">
            <a:avLst>
              <a:gd name="adj" fmla="val 1605"/>
            </a:avLst>
          </a:prstGeom>
          <a:solidFill>
            <a:srgbClr val="141B24"/>
          </a:solidFill>
          <a:ln w="9525">
            <a:solidFill>
              <a:srgbClr val="2C333D"/>
            </a:solidFill>
            <a:prstDash val="solid"/>
          </a:ln>
        </p:spPr>
      </p:sp>
      <p:sp>
        <p:nvSpPr>
          <p:cNvPr id="8" name="Text 6"/>
          <p:cNvSpPr/>
          <p:nvPr/>
        </p:nvSpPr>
        <p:spPr>
          <a:xfrm>
            <a:off x="1343025" y="4976813"/>
            <a:ext cx="8004810" cy="404813"/>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Space Grotesk" pitchFamily="34" charset="0"/>
                <a:ea typeface="Space Grotesk" pitchFamily="34" charset="-122"/>
                <a:cs typeface="Space Grotesk" pitchFamily="34" charset="-120"/>
              </a:rPr>
              <a:t>Multi-Stage Reasoning Pipeline</a:t>
            </a:r>
            <a:endParaRPr lang="en-US" sz="2250" dirty="0"/>
          </a:p>
        </p:txBody>
      </p:sp>
      <p:sp>
        <p:nvSpPr>
          <p:cNvPr id="9" name="Text 7"/>
          <p:cNvSpPr/>
          <p:nvPr/>
        </p:nvSpPr>
        <p:spPr>
          <a:xfrm>
            <a:off x="1343025" y="5514975"/>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10" name="Text 8"/>
          <p:cNvSpPr/>
          <p:nvPr/>
        </p:nvSpPr>
        <p:spPr>
          <a:xfrm>
            <a:off x="1571625" y="5524500"/>
            <a:ext cx="5836630"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Independent processing stages with defined contracts.</a:t>
            </a:r>
            <a:endParaRPr lang="en-US" sz="1650" dirty="0"/>
          </a:p>
        </p:txBody>
      </p:sp>
      <p:sp>
        <p:nvSpPr>
          <p:cNvPr id="11" name="Text 9"/>
          <p:cNvSpPr/>
          <p:nvPr/>
        </p:nvSpPr>
        <p:spPr>
          <a:xfrm>
            <a:off x="1343025" y="5922615"/>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12" name="Text 10"/>
          <p:cNvSpPr/>
          <p:nvPr/>
        </p:nvSpPr>
        <p:spPr>
          <a:xfrm>
            <a:off x="1571625" y="5932140"/>
            <a:ext cx="6366180" cy="59814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Separation of evidence generation, validation, reasoning, and decision processes.</a:t>
            </a:r>
            <a:endParaRPr lang="en-US" sz="1650" dirty="0"/>
          </a:p>
        </p:txBody>
      </p:sp>
      <p:sp>
        <p:nvSpPr>
          <p:cNvPr id="13" name="Shape 11"/>
          <p:cNvSpPr/>
          <p:nvPr/>
        </p:nvSpPr>
        <p:spPr>
          <a:xfrm>
            <a:off x="9277350" y="4624388"/>
            <a:ext cx="8058150" cy="2374106"/>
          </a:xfrm>
          <a:prstGeom prst="roundRect">
            <a:avLst>
              <a:gd name="adj" fmla="val 1605"/>
            </a:avLst>
          </a:prstGeom>
          <a:solidFill>
            <a:srgbClr val="141B24"/>
          </a:solidFill>
          <a:ln w="9525">
            <a:solidFill>
              <a:srgbClr val="2C333D"/>
            </a:solidFill>
            <a:prstDash val="solid"/>
          </a:ln>
        </p:spPr>
      </p:sp>
      <p:sp>
        <p:nvSpPr>
          <p:cNvPr id="14" name="Text 12"/>
          <p:cNvSpPr/>
          <p:nvPr/>
        </p:nvSpPr>
        <p:spPr>
          <a:xfrm>
            <a:off x="9667875" y="4976813"/>
            <a:ext cx="8004810" cy="404813"/>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IBM Plex Mono" pitchFamily="34" charset="0"/>
                <a:ea typeface="IBM Plex Mono" pitchFamily="34" charset="-122"/>
                <a:cs typeface="IBM Plex Mono" pitchFamily="34" charset="-120"/>
              </a:rPr>
              <a:t>AS-DIFF</a:t>
            </a:r>
            <a:endParaRPr lang="en-US" sz="2250" dirty="0"/>
          </a:p>
        </p:txBody>
      </p:sp>
      <p:sp>
        <p:nvSpPr>
          <p:cNvPr id="15" name="Text 13"/>
          <p:cNvSpPr/>
          <p:nvPr/>
        </p:nvSpPr>
        <p:spPr>
          <a:xfrm>
            <a:off x="9667875" y="5514975"/>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16" name="Text 14"/>
          <p:cNvSpPr/>
          <p:nvPr/>
        </p:nvSpPr>
        <p:spPr>
          <a:xfrm>
            <a:off x="9896475" y="5524500"/>
            <a:ext cx="6793638"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Canonical comparison framework for heterogeneous information.</a:t>
            </a:r>
            <a:endParaRPr lang="en-US" sz="1650" dirty="0"/>
          </a:p>
        </p:txBody>
      </p:sp>
      <p:sp>
        <p:nvSpPr>
          <p:cNvPr id="17" name="Text 15"/>
          <p:cNvSpPr/>
          <p:nvPr/>
        </p:nvSpPr>
        <p:spPr>
          <a:xfrm>
            <a:off x="9667875" y="5922615"/>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18" name="Text 16"/>
          <p:cNvSpPr/>
          <p:nvPr/>
        </p:nvSpPr>
        <p:spPr>
          <a:xfrm>
            <a:off x="9896475" y="5932140"/>
            <a:ext cx="6375378"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Resolves objects into comparable structures before analysis.</a:t>
            </a:r>
            <a:endParaRPr lang="en-US" sz="1650" dirty="0"/>
          </a:p>
        </p:txBody>
      </p:sp>
      <p:sp>
        <p:nvSpPr>
          <p:cNvPr id="19" name="Text 17"/>
          <p:cNvSpPr/>
          <p:nvPr/>
        </p:nvSpPr>
        <p:spPr>
          <a:xfrm>
            <a:off x="9667875" y="6330255"/>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20" name="Text 18"/>
          <p:cNvSpPr/>
          <p:nvPr/>
        </p:nvSpPr>
        <p:spPr>
          <a:xfrm>
            <a:off x="9896475" y="6339780"/>
            <a:ext cx="6056145"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Tracks unresolved comparison gaps for future refinement.</a:t>
            </a:r>
            <a:endParaRPr lang="en-US" sz="1650" dirty="0"/>
          </a:p>
        </p:txBody>
      </p:sp>
      <p:sp>
        <p:nvSpPr>
          <p:cNvPr id="21" name="Shape 19"/>
          <p:cNvSpPr/>
          <p:nvPr/>
        </p:nvSpPr>
        <p:spPr>
          <a:xfrm>
            <a:off x="952500" y="7265194"/>
            <a:ext cx="8058150" cy="2259806"/>
          </a:xfrm>
          <a:prstGeom prst="roundRect">
            <a:avLst>
              <a:gd name="adj" fmla="val 1686"/>
            </a:avLst>
          </a:prstGeom>
          <a:solidFill>
            <a:srgbClr val="141B24"/>
          </a:solidFill>
          <a:ln w="9525">
            <a:solidFill>
              <a:srgbClr val="2C333D"/>
            </a:solidFill>
            <a:prstDash val="solid"/>
          </a:ln>
        </p:spPr>
      </p:sp>
      <p:sp>
        <p:nvSpPr>
          <p:cNvPr id="22" name="Text 20"/>
          <p:cNvSpPr/>
          <p:nvPr/>
        </p:nvSpPr>
        <p:spPr>
          <a:xfrm>
            <a:off x="1343025" y="7617619"/>
            <a:ext cx="8004810" cy="404813"/>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Space Grotesk" pitchFamily="34" charset="0"/>
                <a:ea typeface="Space Grotesk" pitchFamily="34" charset="-122"/>
                <a:cs typeface="Space Grotesk" pitchFamily="34" charset="-120"/>
              </a:rPr>
              <a:t>Formation Detection</a:t>
            </a:r>
            <a:endParaRPr lang="en-US" sz="2250" dirty="0"/>
          </a:p>
        </p:txBody>
      </p:sp>
      <p:sp>
        <p:nvSpPr>
          <p:cNvPr id="23" name="Text 21"/>
          <p:cNvSpPr/>
          <p:nvPr/>
        </p:nvSpPr>
        <p:spPr>
          <a:xfrm>
            <a:off x="1343025" y="8155781"/>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24" name="Text 22"/>
          <p:cNvSpPr/>
          <p:nvPr/>
        </p:nvSpPr>
        <p:spPr>
          <a:xfrm>
            <a:off x="1571625" y="8165306"/>
            <a:ext cx="6075154"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Identifies higher-order structures from underlying signals.</a:t>
            </a:r>
            <a:endParaRPr lang="en-US" sz="1650" dirty="0"/>
          </a:p>
        </p:txBody>
      </p:sp>
      <p:sp>
        <p:nvSpPr>
          <p:cNvPr id="25" name="Text 23"/>
          <p:cNvSpPr/>
          <p:nvPr/>
        </p:nvSpPr>
        <p:spPr>
          <a:xfrm>
            <a:off x="1343025" y="8563421"/>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26" name="Text 24"/>
          <p:cNvSpPr/>
          <p:nvPr/>
        </p:nvSpPr>
        <p:spPr>
          <a:xfrm>
            <a:off x="1571625" y="8572946"/>
            <a:ext cx="6677518"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Supports recognition of patterns beyond individual data points.</a:t>
            </a:r>
            <a:endParaRPr lang="en-US" sz="1650" dirty="0"/>
          </a:p>
        </p:txBody>
      </p:sp>
      <p:sp>
        <p:nvSpPr>
          <p:cNvPr id="27" name="Shape 25"/>
          <p:cNvSpPr/>
          <p:nvPr/>
        </p:nvSpPr>
        <p:spPr>
          <a:xfrm>
            <a:off x="9277350" y="7265194"/>
            <a:ext cx="8058150" cy="2259806"/>
          </a:xfrm>
          <a:prstGeom prst="roundRect">
            <a:avLst>
              <a:gd name="adj" fmla="val 1686"/>
            </a:avLst>
          </a:prstGeom>
          <a:solidFill>
            <a:srgbClr val="141B24"/>
          </a:solidFill>
          <a:ln w="9525">
            <a:solidFill>
              <a:srgbClr val="2C333D"/>
            </a:solidFill>
            <a:prstDash val="solid"/>
          </a:ln>
        </p:spPr>
      </p:sp>
      <p:sp>
        <p:nvSpPr>
          <p:cNvPr id="28" name="Text 26"/>
          <p:cNvSpPr/>
          <p:nvPr/>
        </p:nvSpPr>
        <p:spPr>
          <a:xfrm>
            <a:off x="9667875" y="7617619"/>
            <a:ext cx="8004810" cy="404813"/>
          </a:xfrm>
          <a:prstGeom prst="rect">
            <a:avLst/>
          </a:prstGeom>
          <a:noFill/>
          <a:ln/>
        </p:spPr>
        <p:txBody>
          <a:bodyPr wrap="square" lIns="25400" tIns="25400" rIns="25400" bIns="25400" rtlCol="0" anchor="t">
            <a:normAutofit/>
          </a:bodyPr>
          <a:lstStyle/>
          <a:p>
            <a:pPr algn="l" indent="0" marL="0">
              <a:buNone/>
            </a:pPr>
            <a:r>
              <a:rPr lang="en-US" sz="2250" b="1" dirty="0">
                <a:solidFill>
                  <a:srgbClr val="ECEFF2"/>
                </a:solidFill>
                <a:latin typeface="Space Grotesk" pitchFamily="34" charset="0"/>
                <a:ea typeface="Space Grotesk" pitchFamily="34" charset="-122"/>
                <a:cs typeface="Space Grotesk" pitchFamily="34" charset="-120"/>
              </a:rPr>
              <a:t>Governance Discipline</a:t>
            </a:r>
            <a:endParaRPr lang="en-US" sz="2250" dirty="0"/>
          </a:p>
        </p:txBody>
      </p:sp>
      <p:sp>
        <p:nvSpPr>
          <p:cNvPr id="29" name="Text 27"/>
          <p:cNvSpPr/>
          <p:nvPr/>
        </p:nvSpPr>
        <p:spPr>
          <a:xfrm>
            <a:off x="9667875" y="8155781"/>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30" name="Text 28"/>
          <p:cNvSpPr/>
          <p:nvPr/>
        </p:nvSpPr>
        <p:spPr>
          <a:xfrm>
            <a:off x="9896475" y="8165306"/>
            <a:ext cx="3346922" cy="30480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Work-order driven development.</a:t>
            </a:r>
            <a:endParaRPr lang="en-US" sz="1650" dirty="0"/>
          </a:p>
        </p:txBody>
      </p:sp>
      <p:sp>
        <p:nvSpPr>
          <p:cNvPr id="31" name="Text 29"/>
          <p:cNvSpPr/>
          <p:nvPr/>
        </p:nvSpPr>
        <p:spPr>
          <a:xfrm>
            <a:off x="9667875" y="8563421"/>
            <a:ext cx="267072" cy="331440"/>
          </a:xfrm>
          <a:prstGeom prst="rect">
            <a:avLst/>
          </a:prstGeom>
          <a:noFill/>
          <a:ln/>
        </p:spPr>
        <p:txBody>
          <a:bodyPr wrap="square" lIns="25400" tIns="25400" rIns="25400" bIns="25400" rtlCol="0" anchor="t">
            <a:normAutofit/>
          </a:bodyPr>
          <a:lstStyle/>
          <a:p>
            <a:pPr algn="l" indent="0" marL="0">
              <a:lnSpc>
                <a:spcPct val="110000"/>
              </a:lnSpc>
              <a:buNone/>
            </a:pPr>
            <a:r>
              <a:rPr lang="en-US" sz="1650" dirty="0">
                <a:solidFill>
                  <a:srgbClr val="00D2D3"/>
                </a:solidFill>
                <a:latin typeface="Space Grotesk" pitchFamily="34" charset="0"/>
                <a:ea typeface="Space Grotesk" pitchFamily="34" charset="-122"/>
                <a:cs typeface="Space Grotesk" pitchFamily="34" charset="-120"/>
              </a:rPr>
              <a:t>—</a:t>
            </a:r>
            <a:endParaRPr lang="en-US" sz="1650" dirty="0"/>
          </a:p>
        </p:txBody>
      </p:sp>
      <p:sp>
        <p:nvSpPr>
          <p:cNvPr id="32" name="Text 30"/>
          <p:cNvSpPr/>
          <p:nvPr/>
        </p:nvSpPr>
        <p:spPr>
          <a:xfrm>
            <a:off x="9896475" y="8572946"/>
            <a:ext cx="5856328" cy="598140"/>
          </a:xfrm>
          <a:prstGeom prst="rect">
            <a:avLst/>
          </a:prstGeom>
          <a:noFill/>
          <a:ln/>
        </p:spPr>
        <p:txBody>
          <a:bodyPr wrap="square" lIns="0" tIns="0" rIns="0" bIns="0" rtlCol="0" anchor="t">
            <a:normAutofit/>
          </a:bodyPr>
          <a:lstStyle/>
          <a:p>
            <a:pPr algn="l" indent="0" marL="0">
              <a:lnSpc>
                <a:spcPct val="110000"/>
              </a:lnSpc>
              <a:buNone/>
            </a:pPr>
            <a:r>
              <a:rPr lang="en-US" sz="1650" dirty="0">
                <a:solidFill>
                  <a:srgbClr val="9CA5B1"/>
                </a:solidFill>
                <a:latin typeface="Space Grotesk" pitchFamily="34" charset="0"/>
                <a:ea typeface="Space Grotesk" pitchFamily="34" charset="-122"/>
                <a:cs typeface="Space Grotesk" pitchFamily="34" charset="-120"/>
              </a:rPr>
              <a:t>Architectural changes traceable through specifications, implementation, defects, and validation.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06 — TIMELINE</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From Concept to Structural Intelligence</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Development &amp; Evolution Timeline</a:t>
            </a:r>
            <a:endParaRPr lang="en-US" sz="2400" dirty="0"/>
          </a:p>
        </p:txBody>
      </p:sp>
      <p:sp>
        <p:nvSpPr>
          <p:cNvPr id="5" name="Shape 3"/>
          <p:cNvSpPr/>
          <p:nvPr/>
        </p:nvSpPr>
        <p:spPr>
          <a:xfrm>
            <a:off x="952500" y="3105150"/>
            <a:ext cx="1567681" cy="447675"/>
          </a:xfrm>
          <a:prstGeom prst="roundRect">
            <a:avLst>
              <a:gd name="adj" fmla="val 8511"/>
            </a:avLst>
          </a:prstGeom>
          <a:ln w="9525">
            <a:solidFill>
              <a:srgbClr val="007475"/>
            </a:solidFill>
            <a:prstDash val="dash"/>
          </a:ln>
        </p:spPr>
      </p:sp>
      <p:sp>
        <p:nvSpPr>
          <p:cNvPr id="6" name="Text 4"/>
          <p:cNvSpPr/>
          <p:nvPr/>
        </p:nvSpPr>
        <p:spPr>
          <a:xfrm>
            <a:off x="981075" y="3228975"/>
            <a:ext cx="1510531"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007475"/>
                </a:solidFill>
                <a:latin typeface="IBM Plex Mono" pitchFamily="34" charset="0"/>
                <a:ea typeface="IBM Plex Mono" pitchFamily="34" charset="-122"/>
                <a:cs typeface="IBM Plex Mono" pitchFamily="34" charset="-120"/>
              </a:rPr>
              <a:t>SPARK</a:t>
            </a:r>
            <a:endParaRPr lang="en-US" sz="1200" dirty="0"/>
          </a:p>
        </p:txBody>
      </p:sp>
      <p:sp>
        <p:nvSpPr>
          <p:cNvPr id="7" name="Text 5"/>
          <p:cNvSpPr/>
          <p:nvPr/>
        </p:nvSpPr>
        <p:spPr>
          <a:xfrm>
            <a:off x="2596381"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8" name="Shape 6"/>
          <p:cNvSpPr/>
          <p:nvPr/>
        </p:nvSpPr>
        <p:spPr>
          <a:xfrm>
            <a:off x="2844031" y="3105150"/>
            <a:ext cx="1727002" cy="447675"/>
          </a:xfrm>
          <a:prstGeom prst="roundRect">
            <a:avLst>
              <a:gd name="adj" fmla="val 8511"/>
            </a:avLst>
          </a:prstGeom>
          <a:solidFill>
            <a:srgbClr val="141B24"/>
          </a:solidFill>
          <a:ln w="9525">
            <a:solidFill>
              <a:srgbClr val="2C333D"/>
            </a:solidFill>
            <a:prstDash val="solid"/>
          </a:ln>
        </p:spPr>
      </p:sp>
      <p:sp>
        <p:nvSpPr>
          <p:cNvPr id="9" name="Text 7"/>
          <p:cNvSpPr/>
          <p:nvPr/>
        </p:nvSpPr>
        <p:spPr>
          <a:xfrm>
            <a:off x="2872606" y="3228975"/>
            <a:ext cx="1669852"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ECEFF2"/>
                </a:solidFill>
                <a:latin typeface="IBM Plex Mono" pitchFamily="34" charset="0"/>
                <a:ea typeface="IBM Plex Mono" pitchFamily="34" charset="-122"/>
                <a:cs typeface="IBM Plex Mono" pitchFamily="34" charset="-120"/>
              </a:rPr>
              <a:t>SIGNAL</a:t>
            </a:r>
            <a:endParaRPr lang="en-US" sz="1200" dirty="0"/>
          </a:p>
        </p:txBody>
      </p:sp>
      <p:sp>
        <p:nvSpPr>
          <p:cNvPr id="10" name="Text 8"/>
          <p:cNvSpPr/>
          <p:nvPr/>
        </p:nvSpPr>
        <p:spPr>
          <a:xfrm>
            <a:off x="4647233"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11" name="Shape 9"/>
          <p:cNvSpPr/>
          <p:nvPr/>
        </p:nvSpPr>
        <p:spPr>
          <a:xfrm>
            <a:off x="4894883" y="3105150"/>
            <a:ext cx="1727076" cy="447675"/>
          </a:xfrm>
          <a:prstGeom prst="roundRect">
            <a:avLst>
              <a:gd name="adj" fmla="val 8511"/>
            </a:avLst>
          </a:prstGeom>
          <a:solidFill>
            <a:srgbClr val="141B24"/>
          </a:solidFill>
          <a:ln w="9525">
            <a:solidFill>
              <a:srgbClr val="2C333D"/>
            </a:solidFill>
            <a:prstDash val="solid"/>
          </a:ln>
        </p:spPr>
      </p:sp>
      <p:sp>
        <p:nvSpPr>
          <p:cNvPr id="12" name="Text 10"/>
          <p:cNvSpPr/>
          <p:nvPr/>
        </p:nvSpPr>
        <p:spPr>
          <a:xfrm>
            <a:off x="4923458" y="3228975"/>
            <a:ext cx="1669926"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ECEFF2"/>
                </a:solidFill>
                <a:latin typeface="IBM Plex Mono" pitchFamily="34" charset="0"/>
                <a:ea typeface="IBM Plex Mono" pitchFamily="34" charset="-122"/>
                <a:cs typeface="IBM Plex Mono" pitchFamily="34" charset="-120"/>
              </a:rPr>
              <a:t>PERCEPTION</a:t>
            </a:r>
            <a:endParaRPr lang="en-US" sz="1200" dirty="0"/>
          </a:p>
        </p:txBody>
      </p:sp>
      <p:sp>
        <p:nvSpPr>
          <p:cNvPr id="13" name="Text 11"/>
          <p:cNvSpPr/>
          <p:nvPr/>
        </p:nvSpPr>
        <p:spPr>
          <a:xfrm>
            <a:off x="6698159"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14" name="Shape 12"/>
          <p:cNvSpPr/>
          <p:nvPr/>
        </p:nvSpPr>
        <p:spPr>
          <a:xfrm>
            <a:off x="6945809" y="3105150"/>
            <a:ext cx="1727002" cy="447675"/>
          </a:xfrm>
          <a:prstGeom prst="roundRect">
            <a:avLst>
              <a:gd name="adj" fmla="val 8511"/>
            </a:avLst>
          </a:prstGeom>
          <a:solidFill>
            <a:srgbClr val="141B24"/>
          </a:solidFill>
          <a:ln w="9525">
            <a:solidFill>
              <a:srgbClr val="2C333D"/>
            </a:solidFill>
            <a:prstDash val="solid"/>
          </a:ln>
        </p:spPr>
      </p:sp>
      <p:sp>
        <p:nvSpPr>
          <p:cNvPr id="15" name="Text 13"/>
          <p:cNvSpPr/>
          <p:nvPr/>
        </p:nvSpPr>
        <p:spPr>
          <a:xfrm>
            <a:off x="6974384" y="3228975"/>
            <a:ext cx="1669852"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ECEFF2"/>
                </a:solidFill>
                <a:latin typeface="IBM Plex Mono" pitchFamily="34" charset="0"/>
                <a:ea typeface="IBM Plex Mono" pitchFamily="34" charset="-122"/>
                <a:cs typeface="IBM Plex Mono" pitchFamily="34" charset="-120"/>
              </a:rPr>
              <a:t>STRUCTURE</a:t>
            </a:r>
            <a:endParaRPr lang="en-US" sz="1200" dirty="0"/>
          </a:p>
        </p:txBody>
      </p:sp>
      <p:sp>
        <p:nvSpPr>
          <p:cNvPr id="16" name="Text 14"/>
          <p:cNvSpPr/>
          <p:nvPr/>
        </p:nvSpPr>
        <p:spPr>
          <a:xfrm>
            <a:off x="8749010"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17" name="Shape 15"/>
          <p:cNvSpPr/>
          <p:nvPr/>
        </p:nvSpPr>
        <p:spPr>
          <a:xfrm>
            <a:off x="8996660" y="3105150"/>
            <a:ext cx="1727076" cy="447675"/>
          </a:xfrm>
          <a:prstGeom prst="roundRect">
            <a:avLst>
              <a:gd name="adj" fmla="val 8511"/>
            </a:avLst>
          </a:prstGeom>
          <a:solidFill>
            <a:srgbClr val="141B24"/>
          </a:solidFill>
          <a:ln w="9525">
            <a:solidFill>
              <a:srgbClr val="2C333D"/>
            </a:solidFill>
            <a:prstDash val="solid"/>
          </a:ln>
        </p:spPr>
      </p:sp>
      <p:sp>
        <p:nvSpPr>
          <p:cNvPr id="18" name="Text 16"/>
          <p:cNvSpPr/>
          <p:nvPr/>
        </p:nvSpPr>
        <p:spPr>
          <a:xfrm>
            <a:off x="9025235" y="3228975"/>
            <a:ext cx="1669926"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ECEFF2"/>
                </a:solidFill>
                <a:latin typeface="IBM Plex Mono" pitchFamily="34" charset="0"/>
                <a:ea typeface="IBM Plex Mono" pitchFamily="34" charset="-122"/>
                <a:cs typeface="IBM Plex Mono" pitchFamily="34" charset="-120"/>
              </a:rPr>
              <a:t>RELATIONSHIP</a:t>
            </a:r>
            <a:endParaRPr lang="en-US" sz="1200" dirty="0"/>
          </a:p>
        </p:txBody>
      </p:sp>
      <p:sp>
        <p:nvSpPr>
          <p:cNvPr id="19" name="Text 17"/>
          <p:cNvSpPr/>
          <p:nvPr/>
        </p:nvSpPr>
        <p:spPr>
          <a:xfrm>
            <a:off x="10799936"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20" name="Shape 18"/>
          <p:cNvSpPr/>
          <p:nvPr/>
        </p:nvSpPr>
        <p:spPr>
          <a:xfrm>
            <a:off x="11047586" y="3105150"/>
            <a:ext cx="1727002" cy="447675"/>
          </a:xfrm>
          <a:prstGeom prst="roundRect">
            <a:avLst>
              <a:gd name="adj" fmla="val 8511"/>
            </a:avLst>
          </a:prstGeom>
          <a:solidFill>
            <a:srgbClr val="141B24"/>
          </a:solidFill>
          <a:ln w="9525">
            <a:solidFill>
              <a:srgbClr val="2C333D"/>
            </a:solidFill>
            <a:prstDash val="solid"/>
          </a:ln>
        </p:spPr>
      </p:sp>
      <p:sp>
        <p:nvSpPr>
          <p:cNvPr id="21" name="Text 19"/>
          <p:cNvSpPr/>
          <p:nvPr/>
        </p:nvSpPr>
        <p:spPr>
          <a:xfrm>
            <a:off x="11076161" y="3228975"/>
            <a:ext cx="1669852"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ECEFF2"/>
                </a:solidFill>
                <a:latin typeface="IBM Plex Mono" pitchFamily="34" charset="0"/>
                <a:ea typeface="IBM Plex Mono" pitchFamily="34" charset="-122"/>
                <a:cs typeface="IBM Plex Mono" pitchFamily="34" charset="-120"/>
              </a:rPr>
              <a:t>PROPAGATION</a:t>
            </a:r>
            <a:endParaRPr lang="en-US" sz="1200" dirty="0"/>
          </a:p>
        </p:txBody>
      </p:sp>
      <p:sp>
        <p:nvSpPr>
          <p:cNvPr id="22" name="Text 20"/>
          <p:cNvSpPr/>
          <p:nvPr/>
        </p:nvSpPr>
        <p:spPr>
          <a:xfrm>
            <a:off x="12850788"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23" name="Shape 21"/>
          <p:cNvSpPr/>
          <p:nvPr/>
        </p:nvSpPr>
        <p:spPr>
          <a:xfrm>
            <a:off x="13098438" y="3105150"/>
            <a:ext cx="1727076" cy="447675"/>
          </a:xfrm>
          <a:prstGeom prst="roundRect">
            <a:avLst>
              <a:gd name="adj" fmla="val 8511"/>
            </a:avLst>
          </a:prstGeom>
          <a:solidFill>
            <a:srgbClr val="141B24"/>
          </a:solidFill>
          <a:ln w="9525">
            <a:solidFill>
              <a:srgbClr val="2C333D"/>
            </a:solidFill>
            <a:prstDash val="solid"/>
          </a:ln>
        </p:spPr>
      </p:sp>
      <p:sp>
        <p:nvSpPr>
          <p:cNvPr id="24" name="Text 22"/>
          <p:cNvSpPr/>
          <p:nvPr/>
        </p:nvSpPr>
        <p:spPr>
          <a:xfrm>
            <a:off x="13127013" y="3228975"/>
            <a:ext cx="1669926" cy="238125"/>
          </a:xfrm>
          <a:prstGeom prst="rect">
            <a:avLst/>
          </a:prstGeom>
          <a:noFill/>
          <a:ln/>
        </p:spPr>
        <p:txBody>
          <a:bodyPr wrap="square" lIns="25400" tIns="25400" rIns="25400" bIns="25400" rtlCol="0" anchor="t">
            <a:normAutofit/>
          </a:bodyPr>
          <a:lstStyle/>
          <a:p>
            <a:pPr algn="ctr" indent="0" marL="0">
              <a:buNone/>
            </a:pPr>
            <a:r>
              <a:rPr lang="en-US" sz="1200" spc="48" kern="0" dirty="0">
                <a:solidFill>
                  <a:srgbClr val="ECEFF2"/>
                </a:solidFill>
                <a:latin typeface="IBM Plex Mono" pitchFamily="34" charset="0"/>
                <a:ea typeface="IBM Plex Mono" pitchFamily="34" charset="-122"/>
                <a:cs typeface="IBM Plex Mono" pitchFamily="34" charset="-120"/>
              </a:rPr>
              <a:t>CONVERGENCE</a:t>
            </a:r>
            <a:endParaRPr lang="en-US" sz="1200" dirty="0"/>
          </a:p>
        </p:txBody>
      </p:sp>
      <p:sp>
        <p:nvSpPr>
          <p:cNvPr id="25" name="Text 23"/>
          <p:cNvSpPr/>
          <p:nvPr/>
        </p:nvSpPr>
        <p:spPr>
          <a:xfrm>
            <a:off x="14901714" y="3219450"/>
            <a:ext cx="247650" cy="257175"/>
          </a:xfrm>
          <a:prstGeom prst="rect">
            <a:avLst/>
          </a:prstGeom>
          <a:noFill/>
          <a:ln/>
        </p:spPr>
        <p:txBody>
          <a:bodyPr wrap="square" lIns="25400" tIns="25400" rIns="25400" bIns="25400" rtlCol="0" anchor="t">
            <a:normAutofit/>
          </a:bodyPr>
          <a:lstStyle/>
          <a:p>
            <a:pPr algn="l" indent="0" marL="0">
              <a:buNone/>
            </a:pPr>
            <a:r>
              <a:rPr lang="en-US" sz="1350" dirty="0">
                <a:solidFill>
                  <a:srgbClr val="00D2D3"/>
                </a:solidFill>
                <a:latin typeface="Space Grotesk" pitchFamily="34" charset="0"/>
                <a:ea typeface="Space Grotesk" pitchFamily="34" charset="-122"/>
                <a:cs typeface="Space Grotesk" pitchFamily="34" charset="-120"/>
              </a:rPr>
              <a:t>→</a:t>
            </a:r>
            <a:endParaRPr lang="en-US" sz="1350" dirty="0"/>
          </a:p>
        </p:txBody>
      </p:sp>
      <p:sp>
        <p:nvSpPr>
          <p:cNvPr id="26" name="Shape 24"/>
          <p:cNvSpPr/>
          <p:nvPr/>
        </p:nvSpPr>
        <p:spPr>
          <a:xfrm>
            <a:off x="15149364" y="3014663"/>
            <a:ext cx="2186136" cy="628650"/>
          </a:xfrm>
          <a:prstGeom prst="roundRect">
            <a:avLst>
              <a:gd name="adj" fmla="val 6061"/>
            </a:avLst>
          </a:prstGeom>
          <a:solidFill>
            <a:srgbClr val="00D2D3"/>
          </a:solidFill>
          <a:ln/>
        </p:spPr>
      </p:sp>
      <p:sp>
        <p:nvSpPr>
          <p:cNvPr id="27" name="Text 25"/>
          <p:cNvSpPr/>
          <p:nvPr/>
        </p:nvSpPr>
        <p:spPr>
          <a:xfrm>
            <a:off x="15168414" y="3128963"/>
            <a:ext cx="2148036" cy="438150"/>
          </a:xfrm>
          <a:prstGeom prst="rect">
            <a:avLst/>
          </a:prstGeom>
          <a:noFill/>
          <a:ln/>
        </p:spPr>
        <p:txBody>
          <a:bodyPr wrap="square" lIns="25400" tIns="25400" rIns="25400" bIns="25400" rtlCol="0" anchor="t">
            <a:normAutofit/>
          </a:bodyPr>
          <a:lstStyle/>
          <a:p>
            <a:pPr algn="ctr" indent="0" marL="0">
              <a:buNone/>
            </a:pPr>
            <a:r>
              <a:rPr lang="en-US" sz="1200" b="1" spc="48" kern="0" dirty="0">
                <a:solidFill>
                  <a:srgbClr val="0A1017"/>
                </a:solidFill>
                <a:latin typeface="IBM Plex Mono" pitchFamily="34" charset="0"/>
                <a:ea typeface="IBM Plex Mono" pitchFamily="34" charset="-122"/>
                <a:cs typeface="IBM Plex Mono" pitchFamily="34" charset="-120"/>
              </a:rPr>
              <a:t>STRUCTURAL INTELLIGENCE</a:t>
            </a:r>
            <a:endParaRPr lang="en-US" sz="1200" dirty="0"/>
          </a:p>
        </p:txBody>
      </p:sp>
      <p:sp>
        <p:nvSpPr>
          <p:cNvPr id="28" name="Shape 26"/>
          <p:cNvSpPr/>
          <p:nvPr/>
        </p:nvSpPr>
        <p:spPr>
          <a:xfrm>
            <a:off x="952500" y="3833812"/>
            <a:ext cx="16383000" cy="338138"/>
          </a:xfrm>
          <a:custGeom>
            <a:avLst/>
            <a:gdLst/>
            <a:ahLst/>
            <a:cxnLst/>
            <a:rect l="l" t="t" r="r" b="b"/>
            <a:pathLst>
              <a:path w="16383000" h="338138">
                <a:moveTo>
                  <a:pt x="38100" y="0"/>
                </a:moveTo>
                <a:lnTo>
                  <a:pt x="16344900" y="0"/>
                </a:lnTo>
                <a:arcTo hR="38100" wR="38100" stAng="16200000" swAng="5400000"/>
                <a:lnTo>
                  <a:pt x="16383000" y="338138"/>
                </a:lnTo>
                <a:lnTo>
                  <a:pt x="0" y="338138"/>
                </a:lnTo>
                <a:lnTo>
                  <a:pt x="0" y="38100"/>
                </a:lnTo>
                <a:arcTo hR="38100" wR="38100" stAng="10800000" swAng="5400000"/>
                <a:close/>
              </a:path>
            </a:pathLst>
          </a:custGeom>
          <a:solidFill>
            <a:srgbClr val="141B24"/>
          </a:solidFill>
          <a:ln/>
        </p:spPr>
      </p:sp>
      <p:sp>
        <p:nvSpPr>
          <p:cNvPr id="29" name="Shape 27"/>
          <p:cNvSpPr/>
          <p:nvPr/>
        </p:nvSpPr>
        <p:spPr>
          <a:xfrm>
            <a:off x="952500" y="3833812"/>
            <a:ext cx="16383000" cy="9525"/>
          </a:xfrm>
          <a:prstGeom prst="rect">
            <a:avLst/>
          </a:prstGeom>
          <a:solidFill>
            <a:srgbClr val="2C333D"/>
          </a:solidFill>
          <a:ln/>
        </p:spPr>
      </p:sp>
      <p:sp>
        <p:nvSpPr>
          <p:cNvPr id="30" name="Shape 28"/>
          <p:cNvSpPr/>
          <p:nvPr/>
        </p:nvSpPr>
        <p:spPr>
          <a:xfrm>
            <a:off x="952500" y="3833812"/>
            <a:ext cx="9525" cy="338138"/>
          </a:xfrm>
          <a:prstGeom prst="rect">
            <a:avLst/>
          </a:prstGeom>
          <a:solidFill>
            <a:srgbClr val="2C333D"/>
          </a:solidFill>
          <a:ln/>
        </p:spPr>
      </p:sp>
      <p:sp>
        <p:nvSpPr>
          <p:cNvPr id="31" name="Shape 29"/>
          <p:cNvSpPr/>
          <p:nvPr/>
        </p:nvSpPr>
        <p:spPr>
          <a:xfrm>
            <a:off x="17325975" y="3833812"/>
            <a:ext cx="9525" cy="338138"/>
          </a:xfrm>
          <a:prstGeom prst="rect">
            <a:avLst/>
          </a:prstGeom>
          <a:solidFill>
            <a:srgbClr val="2C333D"/>
          </a:solidFill>
          <a:ln/>
        </p:spPr>
      </p:sp>
      <p:sp>
        <p:nvSpPr>
          <p:cNvPr id="32" name="Text 30"/>
          <p:cNvSpPr/>
          <p:nvPr/>
        </p:nvSpPr>
        <p:spPr>
          <a:xfrm>
            <a:off x="1171575" y="3919537"/>
            <a:ext cx="4243388" cy="214313"/>
          </a:xfrm>
          <a:prstGeom prst="rect">
            <a:avLst/>
          </a:prstGeom>
          <a:noFill/>
          <a:ln/>
        </p:spPr>
        <p:txBody>
          <a:bodyPr wrap="square" lIns="25400" tIns="25400" rIns="25400" bIns="25400" rtlCol="0" anchor="t">
            <a:normAutofit/>
          </a:bodyPr>
          <a:lstStyle/>
          <a:p>
            <a:pPr algn="l" indent="0" marL="0">
              <a:buNone/>
            </a:pPr>
            <a:r>
              <a:rPr lang="en-US" sz="1050" spc="52" kern="0" dirty="0">
                <a:solidFill>
                  <a:srgbClr val="00D2D3"/>
                </a:solidFill>
                <a:latin typeface="IBM Plex Mono" pitchFamily="34" charset="0"/>
                <a:ea typeface="IBM Plex Mono" pitchFamily="34" charset="-122"/>
                <a:cs typeface="IBM Plex Mono" pitchFamily="34" charset="-120"/>
              </a:rPr>
              <a:t>PHASE</a:t>
            </a:r>
            <a:endParaRPr lang="en-US" sz="1050" dirty="0"/>
          </a:p>
        </p:txBody>
      </p:sp>
      <p:sp>
        <p:nvSpPr>
          <p:cNvPr id="33" name="Text 31"/>
          <p:cNvSpPr/>
          <p:nvPr/>
        </p:nvSpPr>
        <p:spPr>
          <a:xfrm>
            <a:off x="5029200" y="3919537"/>
            <a:ext cx="5940743" cy="214313"/>
          </a:xfrm>
          <a:prstGeom prst="rect">
            <a:avLst/>
          </a:prstGeom>
          <a:noFill/>
          <a:ln/>
        </p:spPr>
        <p:txBody>
          <a:bodyPr wrap="square" lIns="25400" tIns="25400" rIns="25400" bIns="25400" rtlCol="0" anchor="t">
            <a:normAutofit/>
          </a:bodyPr>
          <a:lstStyle/>
          <a:p>
            <a:pPr algn="l" indent="0" marL="0">
              <a:buNone/>
            </a:pPr>
            <a:r>
              <a:rPr lang="en-US" sz="1050" spc="52" kern="0" dirty="0">
                <a:solidFill>
                  <a:srgbClr val="00D2D3"/>
                </a:solidFill>
                <a:latin typeface="IBM Plex Mono" pitchFamily="34" charset="0"/>
                <a:ea typeface="IBM Plex Mono" pitchFamily="34" charset="-122"/>
                <a:cs typeface="IBM Plex Mono" pitchFamily="34" charset="-120"/>
              </a:rPr>
              <a:t>EVOLUTION</a:t>
            </a:r>
            <a:endParaRPr lang="en-US" sz="1050" dirty="0"/>
          </a:p>
        </p:txBody>
      </p:sp>
      <p:sp>
        <p:nvSpPr>
          <p:cNvPr id="34" name="Text 32"/>
          <p:cNvSpPr/>
          <p:nvPr/>
        </p:nvSpPr>
        <p:spPr>
          <a:xfrm>
            <a:off x="10429875" y="3919537"/>
            <a:ext cx="7355205" cy="214313"/>
          </a:xfrm>
          <a:prstGeom prst="rect">
            <a:avLst/>
          </a:prstGeom>
          <a:noFill/>
          <a:ln/>
        </p:spPr>
        <p:txBody>
          <a:bodyPr wrap="square" lIns="25400" tIns="25400" rIns="25400" bIns="25400" rtlCol="0" anchor="t">
            <a:normAutofit/>
          </a:bodyPr>
          <a:lstStyle/>
          <a:p>
            <a:pPr algn="l" indent="0" marL="0">
              <a:buNone/>
            </a:pPr>
            <a:r>
              <a:rPr lang="en-US" sz="1050" spc="52" kern="0" dirty="0">
                <a:solidFill>
                  <a:srgbClr val="00D2D3"/>
                </a:solidFill>
                <a:latin typeface="IBM Plex Mono" pitchFamily="34" charset="0"/>
                <a:ea typeface="IBM Plex Mono" pitchFamily="34" charset="-122"/>
                <a:cs typeface="IBM Plex Mono" pitchFamily="34" charset="-120"/>
              </a:rPr>
              <a:t>WHAT CHANGED</a:t>
            </a:r>
            <a:endParaRPr lang="en-US" sz="1050" dirty="0"/>
          </a:p>
        </p:txBody>
      </p:sp>
      <p:sp>
        <p:nvSpPr>
          <p:cNvPr id="35" name="Shape 33"/>
          <p:cNvSpPr/>
          <p:nvPr/>
        </p:nvSpPr>
        <p:spPr>
          <a:xfrm>
            <a:off x="952500" y="4171950"/>
            <a:ext cx="16383000" cy="4857452"/>
          </a:xfrm>
          <a:custGeom>
            <a:avLst/>
            <a:gdLst/>
            <a:ahLst/>
            <a:cxnLst/>
            <a:rect l="l" t="t" r="r" b="b"/>
            <a:pathLst>
              <a:path w="16383000" h="4857452">
                <a:moveTo>
                  <a:pt x="0" y="0"/>
                </a:moveTo>
                <a:lnTo>
                  <a:pt x="16383000" y="0"/>
                </a:lnTo>
                <a:lnTo>
                  <a:pt x="16383000" y="4819352"/>
                </a:lnTo>
                <a:arcTo hR="38100" wR="38100" stAng="0" swAng="5400000"/>
                <a:lnTo>
                  <a:pt x="38100" y="4857452"/>
                </a:lnTo>
                <a:arcTo hR="38100" wR="38100" stAng="5400000" swAng="5400000"/>
                <a:lnTo>
                  <a:pt x="0" y="0"/>
                </a:lnTo>
                <a:close/>
              </a:path>
            </a:pathLst>
          </a:custGeom>
          <a:ln w="9525">
            <a:solidFill>
              <a:srgbClr val="2C333D"/>
            </a:solidFill>
            <a:prstDash val="solid"/>
          </a:ln>
        </p:spPr>
      </p:sp>
      <p:sp>
        <p:nvSpPr>
          <p:cNvPr id="36" name="Shape 34"/>
          <p:cNvSpPr/>
          <p:nvPr/>
        </p:nvSpPr>
        <p:spPr>
          <a:xfrm>
            <a:off x="962025" y="4181475"/>
            <a:ext cx="16363950" cy="9525"/>
          </a:xfrm>
          <a:prstGeom prst="rect">
            <a:avLst/>
          </a:prstGeom>
          <a:solidFill>
            <a:srgbClr val="2C333D"/>
          </a:solidFill>
          <a:ln/>
        </p:spPr>
      </p:sp>
      <p:sp>
        <p:nvSpPr>
          <p:cNvPr id="37" name="Text 35"/>
          <p:cNvSpPr/>
          <p:nvPr/>
        </p:nvSpPr>
        <p:spPr>
          <a:xfrm>
            <a:off x="1171575" y="4233863"/>
            <a:ext cx="923032"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007475"/>
                </a:solidFill>
                <a:latin typeface="Space Grotesk" pitchFamily="34" charset="0"/>
                <a:ea typeface="Space Grotesk" pitchFamily="34" charset="-122"/>
                <a:cs typeface="Space Grotesk" pitchFamily="34" charset="-120"/>
              </a:rPr>
              <a:t>0. The Spark</a:t>
            </a:r>
            <a:endParaRPr lang="en-US" sz="1125" dirty="0"/>
          </a:p>
        </p:txBody>
      </p:sp>
      <p:sp>
        <p:nvSpPr>
          <p:cNvPr id="38" name="Text 36"/>
          <p:cNvSpPr/>
          <p:nvPr/>
        </p:nvSpPr>
        <p:spPr>
          <a:xfrm>
            <a:off x="1171575" y="4431506"/>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1993</a:t>
            </a:r>
            <a:endParaRPr lang="en-US" sz="900" dirty="0"/>
          </a:p>
        </p:txBody>
      </p:sp>
      <p:sp>
        <p:nvSpPr>
          <p:cNvPr id="39" name="Text 37"/>
          <p:cNvSpPr/>
          <p:nvPr/>
        </p:nvSpPr>
        <p:spPr>
          <a:xfrm>
            <a:off x="5029200" y="4248150"/>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Jurassic Park — water-glass observation</a:t>
            </a:r>
            <a:endParaRPr lang="en-US" sz="1125" dirty="0"/>
          </a:p>
        </p:txBody>
      </p:sp>
      <p:sp>
        <p:nvSpPr>
          <p:cNvPr id="40" name="Text 38"/>
          <p:cNvSpPr/>
          <p:nvPr/>
        </p:nvSpPr>
        <p:spPr>
          <a:xfrm>
            <a:off x="10429875" y="4248150"/>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A disturbance becomes detectable before its source becomes visible</a:t>
            </a:r>
            <a:endParaRPr lang="en-US" sz="1125" dirty="0"/>
          </a:p>
        </p:txBody>
      </p:sp>
      <p:sp>
        <p:nvSpPr>
          <p:cNvPr id="41" name="Shape 39"/>
          <p:cNvSpPr/>
          <p:nvPr/>
        </p:nvSpPr>
        <p:spPr>
          <a:xfrm>
            <a:off x="962025" y="4620071"/>
            <a:ext cx="16363950" cy="9525"/>
          </a:xfrm>
          <a:prstGeom prst="rect">
            <a:avLst/>
          </a:prstGeom>
          <a:solidFill>
            <a:srgbClr val="2C333D"/>
          </a:solidFill>
          <a:ln/>
        </p:spPr>
      </p:sp>
      <p:sp>
        <p:nvSpPr>
          <p:cNvPr id="42" name="Text 40"/>
          <p:cNvSpPr/>
          <p:nvPr/>
        </p:nvSpPr>
        <p:spPr>
          <a:xfrm>
            <a:off x="1171575" y="4672459"/>
            <a:ext cx="801439"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1. Concept</a:t>
            </a:r>
            <a:endParaRPr lang="en-US" sz="1125" dirty="0"/>
          </a:p>
        </p:txBody>
      </p:sp>
      <p:sp>
        <p:nvSpPr>
          <p:cNvPr id="43" name="Text 41"/>
          <p:cNvSpPr/>
          <p:nvPr/>
        </p:nvSpPr>
        <p:spPr>
          <a:xfrm>
            <a:off x="1171575" y="4870103"/>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2025</a:t>
            </a:r>
            <a:endParaRPr lang="en-US" sz="900" dirty="0"/>
          </a:p>
        </p:txBody>
      </p:sp>
      <p:sp>
        <p:nvSpPr>
          <p:cNvPr id="44" name="Text 42"/>
          <p:cNvSpPr/>
          <p:nvPr/>
        </p:nvSpPr>
        <p:spPr>
          <a:xfrm>
            <a:off x="5029200" y="4686746"/>
            <a:ext cx="5562695" cy="366713"/>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Absence as signal / early as-diff concept</a:t>
            </a:r>
            <a:endParaRPr lang="en-US" sz="1125" dirty="0"/>
          </a:p>
        </p:txBody>
      </p:sp>
      <p:sp>
        <p:nvSpPr>
          <p:cNvPr id="45" name="Text 43"/>
          <p:cNvSpPr/>
          <p:nvPr/>
        </p:nvSpPr>
        <p:spPr>
          <a:xfrm>
            <a:off x="10429875" y="4686746"/>
            <a:ext cx="6887147" cy="366713"/>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The physical-observation insight expands into the idea that absence and change are themselves informational signals; as-diff is the first identifiable artifact of that transition</a:t>
            </a:r>
            <a:endParaRPr lang="en-US" sz="1125" dirty="0"/>
          </a:p>
        </p:txBody>
      </p:sp>
      <p:sp>
        <p:nvSpPr>
          <p:cNvPr id="46" name="Shape 44"/>
          <p:cNvSpPr/>
          <p:nvPr/>
        </p:nvSpPr>
        <p:spPr>
          <a:xfrm>
            <a:off x="962025" y="5072509"/>
            <a:ext cx="16363950" cy="9525"/>
          </a:xfrm>
          <a:prstGeom prst="rect">
            <a:avLst/>
          </a:prstGeom>
          <a:solidFill>
            <a:srgbClr val="2C333D"/>
          </a:solidFill>
          <a:ln/>
        </p:spPr>
      </p:sp>
      <p:sp>
        <p:nvSpPr>
          <p:cNvPr id="47" name="Text 45"/>
          <p:cNvSpPr/>
          <p:nvPr/>
        </p:nvSpPr>
        <p:spPr>
          <a:xfrm>
            <a:off x="1171575" y="5124896"/>
            <a:ext cx="1020589"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2. Foundation</a:t>
            </a:r>
            <a:endParaRPr lang="en-US" sz="1125" dirty="0"/>
          </a:p>
        </p:txBody>
      </p:sp>
      <p:sp>
        <p:nvSpPr>
          <p:cNvPr id="48" name="Text 46"/>
          <p:cNvSpPr/>
          <p:nvPr/>
        </p:nvSpPr>
        <p:spPr>
          <a:xfrm>
            <a:off x="1171575" y="5322540"/>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2026</a:t>
            </a:r>
            <a:endParaRPr lang="en-US" sz="900" dirty="0"/>
          </a:p>
        </p:txBody>
      </p:sp>
      <p:sp>
        <p:nvSpPr>
          <p:cNvPr id="49" name="Text 47"/>
          <p:cNvSpPr/>
          <p:nvPr/>
        </p:nvSpPr>
        <p:spPr>
          <a:xfrm>
            <a:off x="5029200" y="5139184"/>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Truth Engine / projection-not-prediction</a:t>
            </a:r>
            <a:endParaRPr lang="en-US" sz="1125" dirty="0"/>
          </a:p>
        </p:txBody>
      </p:sp>
      <p:sp>
        <p:nvSpPr>
          <p:cNvPr id="50" name="Text 48"/>
          <p:cNvSpPr/>
          <p:nvPr/>
        </p:nvSpPr>
        <p:spPr>
          <a:xfrm>
            <a:off x="10429875" y="5139184"/>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Establishes the epistemic model: observe and represent, not manufacture predictions</a:t>
            </a:r>
            <a:endParaRPr lang="en-US" sz="1125" dirty="0"/>
          </a:p>
        </p:txBody>
      </p:sp>
      <p:sp>
        <p:nvSpPr>
          <p:cNvPr id="51" name="Shape 49"/>
          <p:cNvSpPr/>
          <p:nvPr/>
        </p:nvSpPr>
        <p:spPr>
          <a:xfrm>
            <a:off x="962025" y="5511105"/>
            <a:ext cx="16363950" cy="9525"/>
          </a:xfrm>
          <a:prstGeom prst="rect">
            <a:avLst/>
          </a:prstGeom>
          <a:solidFill>
            <a:srgbClr val="2C333D"/>
          </a:solidFill>
          <a:ln/>
        </p:spPr>
      </p:sp>
      <p:sp>
        <p:nvSpPr>
          <p:cNvPr id="52" name="Text 50"/>
          <p:cNvSpPr/>
          <p:nvPr/>
        </p:nvSpPr>
        <p:spPr>
          <a:xfrm>
            <a:off x="1171575" y="5563493"/>
            <a:ext cx="990749"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3. Perception</a:t>
            </a:r>
            <a:endParaRPr lang="en-US" sz="1125" dirty="0"/>
          </a:p>
        </p:txBody>
      </p:sp>
      <p:sp>
        <p:nvSpPr>
          <p:cNvPr id="53" name="Text 51"/>
          <p:cNvSpPr/>
          <p:nvPr/>
        </p:nvSpPr>
        <p:spPr>
          <a:xfrm>
            <a:off x="1171575" y="5761137"/>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2026</a:t>
            </a:r>
            <a:endParaRPr lang="en-US" sz="900" dirty="0"/>
          </a:p>
        </p:txBody>
      </p:sp>
      <p:sp>
        <p:nvSpPr>
          <p:cNvPr id="54" name="Text 52"/>
          <p:cNvSpPr/>
          <p:nvPr/>
        </p:nvSpPr>
        <p:spPr>
          <a:xfrm>
            <a:off x="5029200" y="5577780"/>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Signals → Lenses → Perception Surface</a:t>
            </a:r>
            <a:endParaRPr lang="en-US" sz="1125" dirty="0"/>
          </a:p>
        </p:txBody>
      </p:sp>
      <p:sp>
        <p:nvSpPr>
          <p:cNvPr id="55" name="Text 53"/>
          <p:cNvSpPr/>
          <p:nvPr/>
        </p:nvSpPr>
        <p:spPr>
          <a:xfrm>
            <a:off x="10429875" y="5577780"/>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Creates the instrument layer for observing signals through different analytical perspectives</a:t>
            </a:r>
            <a:endParaRPr lang="en-US" sz="1125" dirty="0"/>
          </a:p>
        </p:txBody>
      </p:sp>
      <p:sp>
        <p:nvSpPr>
          <p:cNvPr id="56" name="Shape 54"/>
          <p:cNvSpPr/>
          <p:nvPr/>
        </p:nvSpPr>
        <p:spPr>
          <a:xfrm>
            <a:off x="962025" y="5949702"/>
            <a:ext cx="16363950" cy="9525"/>
          </a:xfrm>
          <a:prstGeom prst="rect">
            <a:avLst/>
          </a:prstGeom>
          <a:solidFill>
            <a:srgbClr val="2C333D"/>
          </a:solidFill>
          <a:ln/>
        </p:spPr>
      </p:sp>
      <p:sp>
        <p:nvSpPr>
          <p:cNvPr id="57" name="Text 55"/>
          <p:cNvSpPr/>
          <p:nvPr/>
        </p:nvSpPr>
        <p:spPr>
          <a:xfrm>
            <a:off x="1171575" y="6002089"/>
            <a:ext cx="906810"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4. Structure</a:t>
            </a:r>
            <a:endParaRPr lang="en-US" sz="1125" dirty="0"/>
          </a:p>
        </p:txBody>
      </p:sp>
      <p:sp>
        <p:nvSpPr>
          <p:cNvPr id="58" name="Text 56"/>
          <p:cNvSpPr/>
          <p:nvPr/>
        </p:nvSpPr>
        <p:spPr>
          <a:xfrm>
            <a:off x="1171575" y="6199733"/>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TBD</a:t>
            </a:r>
            <a:endParaRPr lang="en-US" sz="900" dirty="0"/>
          </a:p>
        </p:txBody>
      </p:sp>
      <p:sp>
        <p:nvSpPr>
          <p:cNvPr id="59" name="Text 57"/>
          <p:cNvSpPr/>
          <p:nvPr/>
        </p:nvSpPr>
        <p:spPr>
          <a:xfrm>
            <a:off x="5029200" y="6016377"/>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Ontology + RKM + Evidence + Relationships</a:t>
            </a:r>
            <a:endParaRPr lang="en-US" sz="1125" dirty="0"/>
          </a:p>
        </p:txBody>
      </p:sp>
      <p:sp>
        <p:nvSpPr>
          <p:cNvPr id="60" name="Text 58"/>
          <p:cNvSpPr/>
          <p:nvPr/>
        </p:nvSpPr>
        <p:spPr>
          <a:xfrm>
            <a:off x="10429875" y="6016377"/>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Converts observations into structured representations</a:t>
            </a:r>
            <a:endParaRPr lang="en-US" sz="1125" dirty="0"/>
          </a:p>
        </p:txBody>
      </p:sp>
      <p:sp>
        <p:nvSpPr>
          <p:cNvPr id="61" name="Shape 59"/>
          <p:cNvSpPr/>
          <p:nvPr/>
        </p:nvSpPr>
        <p:spPr>
          <a:xfrm>
            <a:off x="962025" y="6388298"/>
            <a:ext cx="16363950" cy="9525"/>
          </a:xfrm>
          <a:prstGeom prst="rect">
            <a:avLst/>
          </a:prstGeom>
          <a:solidFill>
            <a:srgbClr val="2C333D"/>
          </a:solidFill>
          <a:ln/>
        </p:spPr>
      </p:sp>
      <p:sp>
        <p:nvSpPr>
          <p:cNvPr id="62" name="Text 60"/>
          <p:cNvSpPr/>
          <p:nvPr/>
        </p:nvSpPr>
        <p:spPr>
          <a:xfrm>
            <a:off x="1171575" y="6440686"/>
            <a:ext cx="1092473"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5. Relationship</a:t>
            </a:r>
            <a:endParaRPr lang="en-US" sz="1125" dirty="0"/>
          </a:p>
        </p:txBody>
      </p:sp>
      <p:sp>
        <p:nvSpPr>
          <p:cNvPr id="63" name="Text 61"/>
          <p:cNvSpPr/>
          <p:nvPr/>
        </p:nvSpPr>
        <p:spPr>
          <a:xfrm>
            <a:off x="1171575" y="6638330"/>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TBD</a:t>
            </a:r>
            <a:endParaRPr lang="en-US" sz="900" dirty="0"/>
          </a:p>
        </p:txBody>
      </p:sp>
      <p:sp>
        <p:nvSpPr>
          <p:cNvPr id="64" name="Text 62"/>
          <p:cNvSpPr/>
          <p:nvPr/>
        </p:nvSpPr>
        <p:spPr>
          <a:xfrm>
            <a:off x="5029200" y="6454973"/>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Structural relationships</a:t>
            </a:r>
            <a:endParaRPr lang="en-US" sz="1125" dirty="0"/>
          </a:p>
        </p:txBody>
      </p:sp>
      <p:sp>
        <p:nvSpPr>
          <p:cNvPr id="65" name="Text 63"/>
          <p:cNvSpPr/>
          <p:nvPr/>
        </p:nvSpPr>
        <p:spPr>
          <a:xfrm>
            <a:off x="10429875" y="6454973"/>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Connects otherwise separate observations and entities</a:t>
            </a:r>
            <a:endParaRPr lang="en-US" sz="1125" dirty="0"/>
          </a:p>
        </p:txBody>
      </p:sp>
      <p:sp>
        <p:nvSpPr>
          <p:cNvPr id="66" name="Shape 64"/>
          <p:cNvSpPr/>
          <p:nvPr/>
        </p:nvSpPr>
        <p:spPr>
          <a:xfrm>
            <a:off x="962025" y="6826895"/>
            <a:ext cx="16363950" cy="9525"/>
          </a:xfrm>
          <a:prstGeom prst="rect">
            <a:avLst/>
          </a:prstGeom>
          <a:solidFill>
            <a:srgbClr val="2C333D"/>
          </a:solidFill>
          <a:ln/>
        </p:spPr>
      </p:sp>
      <p:sp>
        <p:nvSpPr>
          <p:cNvPr id="67" name="Text 65"/>
          <p:cNvSpPr/>
          <p:nvPr/>
        </p:nvSpPr>
        <p:spPr>
          <a:xfrm>
            <a:off x="1171575" y="6879282"/>
            <a:ext cx="1083394"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6. Propagation</a:t>
            </a:r>
            <a:endParaRPr lang="en-US" sz="1125" dirty="0"/>
          </a:p>
        </p:txBody>
      </p:sp>
      <p:sp>
        <p:nvSpPr>
          <p:cNvPr id="68" name="Text 66"/>
          <p:cNvSpPr/>
          <p:nvPr/>
        </p:nvSpPr>
        <p:spPr>
          <a:xfrm>
            <a:off x="1171575" y="7076926"/>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TBD</a:t>
            </a:r>
            <a:endParaRPr lang="en-US" sz="900" dirty="0"/>
          </a:p>
        </p:txBody>
      </p:sp>
      <p:sp>
        <p:nvSpPr>
          <p:cNvPr id="69" name="Text 67"/>
          <p:cNvSpPr/>
          <p:nvPr/>
        </p:nvSpPr>
        <p:spPr>
          <a:xfrm>
            <a:off x="5029200" y="6893570"/>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LFOS / propagation</a:t>
            </a:r>
            <a:endParaRPr lang="en-US" sz="1125" dirty="0"/>
          </a:p>
        </p:txBody>
      </p:sp>
      <p:sp>
        <p:nvSpPr>
          <p:cNvPr id="70" name="Text 68"/>
          <p:cNvSpPr/>
          <p:nvPr/>
        </p:nvSpPr>
        <p:spPr>
          <a:xfrm>
            <a:off x="10429875" y="6893570"/>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Models how structural effects move through connected systems</a:t>
            </a:r>
            <a:endParaRPr lang="en-US" sz="1125" dirty="0"/>
          </a:p>
        </p:txBody>
      </p:sp>
      <p:sp>
        <p:nvSpPr>
          <p:cNvPr id="71" name="Shape 69"/>
          <p:cNvSpPr/>
          <p:nvPr/>
        </p:nvSpPr>
        <p:spPr>
          <a:xfrm>
            <a:off x="962025" y="7265491"/>
            <a:ext cx="16363950" cy="9525"/>
          </a:xfrm>
          <a:prstGeom prst="rect">
            <a:avLst/>
          </a:prstGeom>
          <a:solidFill>
            <a:srgbClr val="2C333D"/>
          </a:solidFill>
          <a:ln/>
        </p:spPr>
      </p:sp>
      <p:sp>
        <p:nvSpPr>
          <p:cNvPr id="72" name="Text 70"/>
          <p:cNvSpPr/>
          <p:nvPr/>
        </p:nvSpPr>
        <p:spPr>
          <a:xfrm>
            <a:off x="1171575" y="7317879"/>
            <a:ext cx="1125885"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7. Convergence</a:t>
            </a:r>
            <a:endParaRPr lang="en-US" sz="1125" dirty="0"/>
          </a:p>
        </p:txBody>
      </p:sp>
      <p:sp>
        <p:nvSpPr>
          <p:cNvPr id="73" name="Text 71"/>
          <p:cNvSpPr/>
          <p:nvPr/>
        </p:nvSpPr>
        <p:spPr>
          <a:xfrm>
            <a:off x="1171575" y="7515523"/>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2026</a:t>
            </a:r>
            <a:endParaRPr lang="en-US" sz="900" dirty="0"/>
          </a:p>
        </p:txBody>
      </p:sp>
      <p:sp>
        <p:nvSpPr>
          <p:cNvPr id="74" name="Text 72"/>
          <p:cNvSpPr/>
          <p:nvPr/>
        </p:nvSpPr>
        <p:spPr>
          <a:xfrm>
            <a:off x="5029200" y="7332166"/>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Multi-source confirmation</a:t>
            </a:r>
            <a:endParaRPr lang="en-US" sz="1125" dirty="0"/>
          </a:p>
        </p:txBody>
      </p:sp>
      <p:sp>
        <p:nvSpPr>
          <p:cNvPr id="75" name="Text 73"/>
          <p:cNvSpPr/>
          <p:nvPr/>
        </p:nvSpPr>
        <p:spPr>
          <a:xfrm>
            <a:off x="10429875" y="7332166"/>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Distinguishes isolated signals from meaningful structural change</a:t>
            </a:r>
            <a:endParaRPr lang="en-US" sz="1125" dirty="0"/>
          </a:p>
        </p:txBody>
      </p:sp>
      <p:sp>
        <p:nvSpPr>
          <p:cNvPr id="76" name="Shape 74"/>
          <p:cNvSpPr/>
          <p:nvPr/>
        </p:nvSpPr>
        <p:spPr>
          <a:xfrm>
            <a:off x="962025" y="7704088"/>
            <a:ext cx="16363950" cy="9525"/>
          </a:xfrm>
          <a:prstGeom prst="rect">
            <a:avLst/>
          </a:prstGeom>
          <a:solidFill>
            <a:srgbClr val="2C333D"/>
          </a:solidFill>
          <a:ln/>
        </p:spPr>
      </p:sp>
      <p:sp>
        <p:nvSpPr>
          <p:cNvPr id="77" name="Text 75"/>
          <p:cNvSpPr/>
          <p:nvPr/>
        </p:nvSpPr>
        <p:spPr>
          <a:xfrm>
            <a:off x="1171575" y="7756475"/>
            <a:ext cx="1498327"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8. Domain Expansion</a:t>
            </a:r>
            <a:endParaRPr lang="en-US" sz="1125" dirty="0"/>
          </a:p>
        </p:txBody>
      </p:sp>
      <p:sp>
        <p:nvSpPr>
          <p:cNvPr id="78" name="Text 76"/>
          <p:cNvSpPr/>
          <p:nvPr/>
        </p:nvSpPr>
        <p:spPr>
          <a:xfrm>
            <a:off x="1171575" y="7954119"/>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2026</a:t>
            </a:r>
            <a:endParaRPr lang="en-US" sz="900" dirty="0"/>
          </a:p>
        </p:txBody>
      </p:sp>
      <p:sp>
        <p:nvSpPr>
          <p:cNvPr id="79" name="Text 77"/>
          <p:cNvSpPr/>
          <p:nvPr/>
        </p:nvSpPr>
        <p:spPr>
          <a:xfrm>
            <a:off x="5029200" y="7770763"/>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Capital / Operating / Market / Knowledge / Time / Ownership</a:t>
            </a:r>
            <a:endParaRPr lang="en-US" sz="1125" dirty="0"/>
          </a:p>
        </p:txBody>
      </p:sp>
      <p:sp>
        <p:nvSpPr>
          <p:cNvPr id="80" name="Text 78"/>
          <p:cNvSpPr/>
          <p:nvPr/>
        </p:nvSpPr>
        <p:spPr>
          <a:xfrm>
            <a:off x="10429875" y="7770763"/>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Demonstrates application across materially different domains</a:t>
            </a:r>
            <a:endParaRPr lang="en-US" sz="1125" dirty="0"/>
          </a:p>
        </p:txBody>
      </p:sp>
      <p:sp>
        <p:nvSpPr>
          <p:cNvPr id="81" name="Shape 79"/>
          <p:cNvSpPr/>
          <p:nvPr/>
        </p:nvSpPr>
        <p:spPr>
          <a:xfrm>
            <a:off x="962025" y="8142684"/>
            <a:ext cx="16363950" cy="9525"/>
          </a:xfrm>
          <a:prstGeom prst="rect">
            <a:avLst/>
          </a:prstGeom>
          <a:solidFill>
            <a:srgbClr val="2C333D"/>
          </a:solidFill>
          <a:ln/>
        </p:spPr>
      </p:sp>
      <p:sp>
        <p:nvSpPr>
          <p:cNvPr id="82" name="Text 80"/>
          <p:cNvSpPr/>
          <p:nvPr/>
        </p:nvSpPr>
        <p:spPr>
          <a:xfrm>
            <a:off x="1171575" y="8195072"/>
            <a:ext cx="1329110"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ECEFF2"/>
                </a:solidFill>
                <a:latin typeface="Space Grotesk" pitchFamily="34" charset="0"/>
                <a:ea typeface="Space Grotesk" pitchFamily="34" charset="-122"/>
                <a:cs typeface="Space Grotesk" pitchFamily="34" charset="-120"/>
              </a:rPr>
              <a:t>9. External Reality</a:t>
            </a:r>
            <a:endParaRPr lang="en-US" sz="1125" dirty="0"/>
          </a:p>
        </p:txBody>
      </p:sp>
      <p:sp>
        <p:nvSpPr>
          <p:cNvPr id="83" name="Text 81"/>
          <p:cNvSpPr/>
          <p:nvPr/>
        </p:nvSpPr>
        <p:spPr>
          <a:xfrm>
            <a:off x="1171575" y="8392716"/>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2026</a:t>
            </a:r>
            <a:endParaRPr lang="en-US" sz="900" dirty="0"/>
          </a:p>
        </p:txBody>
      </p:sp>
      <p:sp>
        <p:nvSpPr>
          <p:cNvPr id="84" name="Text 82"/>
          <p:cNvSpPr/>
          <p:nvPr/>
        </p:nvSpPr>
        <p:spPr>
          <a:xfrm>
            <a:off x="5029200" y="8209359"/>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EIA / FRED / EDGAR / OpenAlex / USASpending / FEC</a:t>
            </a:r>
            <a:endParaRPr lang="en-US" sz="1125" dirty="0"/>
          </a:p>
        </p:txBody>
      </p:sp>
      <p:sp>
        <p:nvSpPr>
          <p:cNvPr id="85" name="Text 83"/>
          <p:cNvSpPr/>
          <p:nvPr/>
        </p:nvSpPr>
        <p:spPr>
          <a:xfrm>
            <a:off x="10429875" y="8209359"/>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Connects the structural model to external evidence</a:t>
            </a:r>
            <a:endParaRPr lang="en-US" sz="1125" dirty="0"/>
          </a:p>
        </p:txBody>
      </p:sp>
      <p:sp>
        <p:nvSpPr>
          <p:cNvPr id="86" name="Shape 84"/>
          <p:cNvSpPr/>
          <p:nvPr/>
        </p:nvSpPr>
        <p:spPr>
          <a:xfrm>
            <a:off x="962025" y="8581281"/>
            <a:ext cx="16363950" cy="9525"/>
          </a:xfrm>
          <a:prstGeom prst="rect">
            <a:avLst/>
          </a:prstGeom>
          <a:solidFill>
            <a:srgbClr val="2C333D"/>
          </a:solidFill>
          <a:ln/>
        </p:spPr>
      </p:sp>
      <p:sp>
        <p:nvSpPr>
          <p:cNvPr id="87" name="Text 85"/>
          <p:cNvSpPr/>
          <p:nvPr/>
        </p:nvSpPr>
        <p:spPr>
          <a:xfrm>
            <a:off x="1171575" y="8633668"/>
            <a:ext cx="1853729" cy="223838"/>
          </a:xfrm>
          <a:prstGeom prst="rect">
            <a:avLst/>
          </a:prstGeom>
          <a:noFill/>
          <a:ln/>
        </p:spPr>
        <p:txBody>
          <a:bodyPr wrap="square" lIns="0" tIns="0" rIns="0" bIns="0" rtlCol="0" anchor="t">
            <a:normAutofit/>
          </a:bodyPr>
          <a:lstStyle/>
          <a:p>
            <a:pPr algn="l" indent="0" marL="0">
              <a:lnSpc>
                <a:spcPct val="88462"/>
              </a:lnSpc>
              <a:buNone/>
            </a:pPr>
            <a:r>
              <a:rPr lang="en-US" sz="1125" b="1" dirty="0">
                <a:solidFill>
                  <a:srgbClr val="00D2D3"/>
                </a:solidFill>
                <a:latin typeface="Space Grotesk" pitchFamily="34" charset="0"/>
                <a:ea typeface="Space Grotesk" pitchFamily="34" charset="-122"/>
                <a:cs typeface="Space Grotesk" pitchFamily="34" charset="-120"/>
              </a:rPr>
              <a:t>10. Structural Intelligence</a:t>
            </a:r>
            <a:endParaRPr lang="en-US" sz="1125" dirty="0"/>
          </a:p>
        </p:txBody>
      </p:sp>
      <p:sp>
        <p:nvSpPr>
          <p:cNvPr id="88" name="Text 86"/>
          <p:cNvSpPr/>
          <p:nvPr/>
        </p:nvSpPr>
        <p:spPr>
          <a:xfrm>
            <a:off x="1171575" y="8831312"/>
            <a:ext cx="4243388" cy="169515"/>
          </a:xfrm>
          <a:prstGeom prst="rect">
            <a:avLst/>
          </a:prstGeom>
          <a:noFill/>
          <a:ln/>
        </p:spPr>
        <p:txBody>
          <a:bodyPr wrap="square" lIns="25400" tIns="25400" rIns="25400" bIns="25400" rtlCol="0" anchor="t">
            <a:normAutofit/>
          </a:bodyPr>
          <a:lstStyle/>
          <a:p>
            <a:pPr algn="l" indent="0" marL="0">
              <a:lnSpc>
                <a:spcPct val="86250"/>
              </a:lnSpc>
              <a:buNone/>
            </a:pPr>
            <a:r>
              <a:rPr lang="en-US" sz="900" dirty="0">
                <a:solidFill>
                  <a:srgbClr val="007475"/>
                </a:solidFill>
                <a:latin typeface="IBM Plex Mono" pitchFamily="34" charset="0"/>
                <a:ea typeface="IBM Plex Mono" pitchFamily="34" charset="-122"/>
                <a:cs typeface="IBM Plex Mono" pitchFamily="34" charset="-120"/>
              </a:rPr>
              <a:t>NOW</a:t>
            </a:r>
            <a:endParaRPr lang="en-US" sz="900" dirty="0"/>
          </a:p>
        </p:txBody>
      </p:sp>
      <p:sp>
        <p:nvSpPr>
          <p:cNvPr id="89" name="Text 87"/>
          <p:cNvSpPr/>
          <p:nvPr/>
        </p:nvSpPr>
        <p:spPr>
          <a:xfrm>
            <a:off x="5029200" y="8647956"/>
            <a:ext cx="5562695"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b="1" dirty="0">
                <a:solidFill>
                  <a:srgbClr val="9CA5B1"/>
                </a:solidFill>
                <a:latin typeface="Space Grotesk" pitchFamily="34" charset="0"/>
                <a:ea typeface="Space Grotesk" pitchFamily="34" charset="-122"/>
                <a:cs typeface="Space Grotesk" pitchFamily="34" charset="-120"/>
              </a:rPr>
              <a:t>KRYLO</a:t>
            </a:r>
            <a:endParaRPr lang="en-US" sz="1125" dirty="0"/>
          </a:p>
        </p:txBody>
      </p:sp>
      <p:sp>
        <p:nvSpPr>
          <p:cNvPr id="90" name="Text 88"/>
          <p:cNvSpPr/>
          <p:nvPr/>
        </p:nvSpPr>
        <p:spPr>
          <a:xfrm>
            <a:off x="10429875" y="8647956"/>
            <a:ext cx="6887147" cy="352871"/>
          </a:xfrm>
          <a:prstGeom prst="rect">
            <a:avLst/>
          </a:prstGeom>
          <a:noFill/>
          <a:ln/>
        </p:spPr>
        <p:txBody>
          <a:bodyPr wrap="square" lIns="25400" tIns="25400" rIns="25400" bIns="25400" rtlCol="0" anchor="t">
            <a:normAutofit/>
          </a:bodyPr>
          <a:lstStyle/>
          <a:p>
            <a:pPr algn="l" indent="0" marL="0">
              <a:lnSpc>
                <a:spcPct val="88462"/>
              </a:lnSpc>
              <a:buNone/>
            </a:pPr>
            <a:r>
              <a:rPr lang="en-US" sz="1125" dirty="0">
                <a:solidFill>
                  <a:srgbClr val="9CA5B1"/>
                </a:solidFill>
                <a:latin typeface="Space Grotesk" pitchFamily="34" charset="0"/>
                <a:ea typeface="Space Grotesk" pitchFamily="34" charset="-122"/>
                <a:cs typeface="Space Grotesk" pitchFamily="34" charset="-120"/>
              </a:rPr>
              <a:t>The accumulated system becomes a structural-intelligence platform</a:t>
            </a:r>
            <a:endParaRPr lang="en-US" sz="1125" dirty="0"/>
          </a:p>
        </p:txBody>
      </p:sp>
      <p:sp>
        <p:nvSpPr>
          <p:cNvPr id="91" name="Text 89"/>
          <p:cNvSpPr/>
          <p:nvPr/>
        </p:nvSpPr>
        <p:spPr>
          <a:xfrm>
            <a:off x="952500" y="9353550"/>
            <a:ext cx="1687449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9CA5B1"/>
                </a:solidFill>
                <a:latin typeface="Space Grotesk" pitchFamily="34" charset="0"/>
                <a:ea typeface="Space Grotesk" pitchFamily="34" charset="-122"/>
                <a:cs typeface="Space Grotesk" pitchFamily="34" charset="-120"/>
              </a:rPr>
              <a:t>1993 is the spark; 2025 is the beginning of KRYLO as an intentional system. Timeline dates distinguish conceptual origin from subsequent system development and implementation.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07 — PROTOTYPE LINEAGE</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Prototype Lineage — From Analysis to Signal Structure</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Early concepts and visual embodiments preceding the current KRYLO system</a:t>
            </a:r>
            <a:endParaRPr lang="en-US" sz="2400" dirty="0"/>
          </a:p>
        </p:txBody>
      </p:sp>
      <p:sp>
        <p:nvSpPr>
          <p:cNvPr id="5" name="Shape 3"/>
          <p:cNvSpPr/>
          <p:nvPr/>
        </p:nvSpPr>
        <p:spPr>
          <a:xfrm>
            <a:off x="5735762" y="2967112"/>
            <a:ext cx="6816477" cy="5207273"/>
          </a:xfrm>
          <a:prstGeom prst="roundRect">
            <a:avLst>
              <a:gd name="adj" fmla="val 732"/>
            </a:avLst>
          </a:prstGeom>
          <a:ln w="9525">
            <a:solidFill>
              <a:srgbClr val="2C333D"/>
            </a:solidFill>
            <a:prstDash val="solid"/>
          </a:ln>
        </p:spPr>
      </p:sp>
      <p:pic>
        <p:nvPicPr>
          <p:cNvPr id="6" name="Image 0" descr="preencoded.png">    </p:cNvPr>
          <p:cNvPicPr>
            <a:picLocks noChangeAspect="1"/>
          </p:cNvPicPr>
          <p:nvPr/>
        </p:nvPicPr>
        <p:blipFill>
          <a:blip r:embed="rId1"/>
          <a:srcRect l="0" r="0" t="-43" b="-43"/>
          <a:stretch/>
        </p:blipFill>
        <p:spPr>
          <a:xfrm>
            <a:off x="5735762" y="2967112"/>
            <a:ext cx="6816477" cy="5207273"/>
          </a:xfrm>
          <a:prstGeom prst="rect">
            <a:avLst/>
          </a:prstGeom>
        </p:spPr>
      </p:pic>
      <p:sp>
        <p:nvSpPr>
          <p:cNvPr id="7" name="Text 4"/>
          <p:cNvSpPr/>
          <p:nvPr/>
        </p:nvSpPr>
        <p:spPr>
          <a:xfrm>
            <a:off x="952500" y="8431560"/>
            <a:ext cx="16678275" cy="731490"/>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Early artifacts document multiple converging development threads: comparative/differential analysis (as-diff), signal evaluation, tiered evidence assessment, signal casting, focused perception, distributed inputs, and signal convergence.</a:t>
            </a:r>
            <a:endParaRPr lang="en-US" sz="1950" dirty="0"/>
          </a:p>
        </p:txBody>
      </p:sp>
      <p:sp>
        <p:nvSpPr>
          <p:cNvPr id="8" name="Text 5"/>
          <p:cNvSpPr/>
          <p:nvPr/>
        </p:nvSpPr>
        <p:spPr>
          <a:xfrm>
            <a:off x="952500" y="9353550"/>
            <a:ext cx="16874490" cy="209550"/>
          </a:xfrm>
          <a:prstGeom prst="rect">
            <a:avLst/>
          </a:prstGeom>
          <a:noFill/>
          <a:ln/>
        </p:spPr>
        <p:txBody>
          <a:bodyPr wrap="square" lIns="25400" tIns="25400" rIns="25400" bIns="25400" rtlCol="0" anchor="t">
            <a:normAutofit/>
          </a:bodyPr>
          <a:lstStyle/>
          <a:p>
            <a:pPr algn="l" indent="0" marL="0">
              <a:buNone/>
            </a:pPr>
            <a:r>
              <a:rPr lang="en-US" sz="1050" dirty="0">
                <a:solidFill>
                  <a:srgbClr val="9CA5B1"/>
                </a:solidFill>
                <a:latin typeface="Space Grotesk" pitchFamily="34" charset="0"/>
                <a:ea typeface="Space Grotesk" pitchFamily="34" charset="-122"/>
                <a:cs typeface="Space Grotesk" pitchFamily="34" charset="-120"/>
              </a:rPr>
              <a:t>These artifacts are presented as developmental evidence. They are not represented as the completed KRYLO architecture, and individual dates or causal relationships should not be inferred from the montage alone.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08 — ASSESSMENT</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Areas Identified for Attorney Assessment</a:t>
            </a:r>
            <a:endParaRPr lang="en-US" sz="4800" dirty="0"/>
          </a:p>
        </p:txBody>
      </p:sp>
      <p:sp>
        <p:nvSpPr>
          <p:cNvPr id="4" name="Text 2"/>
          <p:cNvSpPr/>
          <p:nvPr/>
        </p:nvSpPr>
        <p:spPr>
          <a:xfrm>
            <a:off x="952500" y="2357438"/>
            <a:ext cx="15716250"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9CA5B1"/>
                </a:solidFill>
                <a:latin typeface="Space Grotesk" pitchFamily="34" charset="0"/>
                <a:ea typeface="Space Grotesk" pitchFamily="34" charset="-122"/>
                <a:cs typeface="Space Grotesk" pitchFamily="34" charset="-120"/>
              </a:rPr>
              <a:t>The purpose of this review is not to assert protection, but to identify technical areas requiring professional evaluation.</a:t>
            </a:r>
            <a:endParaRPr lang="en-US" sz="1950" dirty="0"/>
          </a:p>
        </p:txBody>
      </p:sp>
      <p:sp>
        <p:nvSpPr>
          <p:cNvPr id="5" name="Shape 3"/>
          <p:cNvSpPr/>
          <p:nvPr/>
        </p:nvSpPr>
        <p:spPr>
          <a:xfrm>
            <a:off x="952500" y="3123233"/>
            <a:ext cx="8077200" cy="3033489"/>
          </a:xfrm>
          <a:prstGeom prst="roundRect">
            <a:avLst>
              <a:gd name="adj" fmla="val 1256"/>
            </a:avLst>
          </a:prstGeom>
          <a:solidFill>
            <a:srgbClr val="141B24"/>
          </a:solidFill>
          <a:ln w="9525">
            <a:solidFill>
              <a:srgbClr val="2C333D"/>
            </a:solidFill>
            <a:prstDash val="solid"/>
          </a:ln>
        </p:spPr>
      </p:sp>
      <p:sp>
        <p:nvSpPr>
          <p:cNvPr id="6" name="Text 4"/>
          <p:cNvSpPr/>
          <p:nvPr/>
        </p:nvSpPr>
        <p:spPr>
          <a:xfrm>
            <a:off x="1266825" y="3399458"/>
            <a:ext cx="8193405" cy="414338"/>
          </a:xfrm>
          <a:prstGeom prst="rect">
            <a:avLst/>
          </a:prstGeom>
          <a:noFill/>
          <a:ln/>
        </p:spPr>
        <p:txBody>
          <a:bodyPr wrap="square" lIns="25400" tIns="25400" rIns="25400" bIns="25400" rtlCol="0" anchor="t">
            <a:normAutofit/>
          </a:bodyPr>
          <a:lstStyle/>
          <a:p>
            <a:pPr algn="l" indent="0" marL="0">
              <a:buNone/>
            </a:pPr>
            <a:r>
              <a:rPr lang="en-US" sz="2250" b="1" dirty="0">
                <a:solidFill>
                  <a:srgbClr val="00D2D3"/>
                </a:solidFill>
                <a:latin typeface="IBM Plex Mono" pitchFamily="34" charset="0"/>
                <a:ea typeface="IBM Plex Mono" pitchFamily="34" charset="-122"/>
                <a:cs typeface="IBM Plex Mono" pitchFamily="34" charset="-120"/>
              </a:rPr>
              <a:t>1 </a:t>
            </a:r>
            <a:pPr algn="l" indent="0" marL="0">
              <a:buNone/>
            </a:pPr>
            <a:r>
              <a:rPr lang="en-US" sz="2250" b="1" dirty="0">
                <a:solidFill>
                  <a:srgbClr val="ECEFF2"/>
                </a:solidFill>
                <a:latin typeface="Space Grotesk" pitchFamily="34" charset="0"/>
                <a:ea typeface="Space Grotesk" pitchFamily="34" charset="-122"/>
                <a:cs typeface="Space Grotesk" pitchFamily="34" charset="-120"/>
              </a:rPr>
              <a:t>Structural Reasoning &amp; Traceability</a:t>
            </a:r>
            <a:endParaRPr lang="en-US" sz="2250" dirty="0"/>
          </a:p>
        </p:txBody>
      </p:sp>
      <p:sp>
        <p:nvSpPr>
          <p:cNvPr id="7" name="Text 5"/>
          <p:cNvSpPr/>
          <p:nvPr/>
        </p:nvSpPr>
        <p:spPr>
          <a:xfrm>
            <a:off x="1266825" y="3909045"/>
            <a:ext cx="8193405" cy="238125"/>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007475"/>
                </a:solidFill>
                <a:latin typeface="IBM Plex Mono" pitchFamily="34" charset="0"/>
                <a:ea typeface="IBM Plex Mono" pitchFamily="34" charset="-122"/>
                <a:cs typeface="IBM Plex Mono" pitchFamily="34" charset="-120"/>
              </a:rPr>
              <a:t>POTENTIAL AREA OF REVIEW</a:t>
            </a:r>
            <a:endParaRPr lang="en-US" sz="1200" dirty="0"/>
          </a:p>
        </p:txBody>
      </p:sp>
      <p:sp>
        <p:nvSpPr>
          <p:cNvPr id="8" name="Text 6"/>
          <p:cNvSpPr/>
          <p:nvPr/>
        </p:nvSpPr>
        <p:spPr>
          <a:xfrm>
            <a:off x="1266825" y="4204320"/>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9" name="Text 7"/>
          <p:cNvSpPr/>
          <p:nvPr/>
        </p:nvSpPr>
        <p:spPr>
          <a:xfrm>
            <a:off x="1495425" y="4204320"/>
            <a:ext cx="3937943"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Evidence-backed reasoning paths.</a:t>
            </a:r>
            <a:endParaRPr lang="en-US" sz="1800" dirty="0"/>
          </a:p>
        </p:txBody>
      </p:sp>
      <p:sp>
        <p:nvSpPr>
          <p:cNvPr id="10" name="Text 8"/>
          <p:cNvSpPr/>
          <p:nvPr/>
        </p:nvSpPr>
        <p:spPr>
          <a:xfrm>
            <a:off x="1266825" y="4596705"/>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11" name="Text 9"/>
          <p:cNvSpPr/>
          <p:nvPr/>
        </p:nvSpPr>
        <p:spPr>
          <a:xfrm>
            <a:off x="1495425" y="4596705"/>
            <a:ext cx="6753168"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Derived explanations generated from verified system state.</a:t>
            </a:r>
            <a:endParaRPr lang="en-US" sz="1800" dirty="0"/>
          </a:p>
        </p:txBody>
      </p:sp>
      <p:sp>
        <p:nvSpPr>
          <p:cNvPr id="12" name="Text 10"/>
          <p:cNvSpPr/>
          <p:nvPr/>
        </p:nvSpPr>
        <p:spPr>
          <a:xfrm>
            <a:off x="1266825" y="4989091"/>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13" name="Text 11"/>
          <p:cNvSpPr/>
          <p:nvPr/>
        </p:nvSpPr>
        <p:spPr>
          <a:xfrm>
            <a:off x="1495425" y="4989091"/>
            <a:ext cx="6550975" cy="625748"/>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Preservation of lineage between evidence, reasoning, and resulting intelligence artifacts.</a:t>
            </a:r>
            <a:endParaRPr lang="en-US" sz="1800" dirty="0"/>
          </a:p>
        </p:txBody>
      </p:sp>
      <p:sp>
        <p:nvSpPr>
          <p:cNvPr id="14" name="Shape 12"/>
          <p:cNvSpPr/>
          <p:nvPr/>
        </p:nvSpPr>
        <p:spPr>
          <a:xfrm>
            <a:off x="9258300" y="3123233"/>
            <a:ext cx="8077200" cy="3033489"/>
          </a:xfrm>
          <a:prstGeom prst="roundRect">
            <a:avLst>
              <a:gd name="adj" fmla="val 1256"/>
            </a:avLst>
          </a:prstGeom>
          <a:solidFill>
            <a:srgbClr val="141B24"/>
          </a:solidFill>
          <a:ln w="9525">
            <a:solidFill>
              <a:srgbClr val="2C333D"/>
            </a:solidFill>
            <a:prstDash val="solid"/>
          </a:ln>
        </p:spPr>
      </p:sp>
      <p:sp>
        <p:nvSpPr>
          <p:cNvPr id="15" name="Text 13"/>
          <p:cNvSpPr/>
          <p:nvPr/>
        </p:nvSpPr>
        <p:spPr>
          <a:xfrm>
            <a:off x="9572625" y="3399458"/>
            <a:ext cx="8193405" cy="414338"/>
          </a:xfrm>
          <a:prstGeom prst="rect">
            <a:avLst/>
          </a:prstGeom>
          <a:noFill/>
          <a:ln/>
        </p:spPr>
        <p:txBody>
          <a:bodyPr wrap="square" lIns="25400" tIns="25400" rIns="25400" bIns="25400" rtlCol="0" anchor="t">
            <a:normAutofit/>
          </a:bodyPr>
          <a:lstStyle/>
          <a:p>
            <a:pPr algn="l" indent="0" marL="0">
              <a:buNone/>
            </a:pPr>
            <a:r>
              <a:rPr lang="en-US" sz="2250" b="1" dirty="0">
                <a:solidFill>
                  <a:srgbClr val="00D2D3"/>
                </a:solidFill>
                <a:latin typeface="IBM Plex Mono" pitchFamily="34" charset="0"/>
                <a:ea typeface="IBM Plex Mono" pitchFamily="34" charset="-122"/>
                <a:cs typeface="IBM Plex Mono" pitchFamily="34" charset="-120"/>
              </a:rPr>
              <a:t>2 </a:t>
            </a:r>
            <a:pPr algn="l" indent="0" marL="0">
              <a:buNone/>
            </a:pPr>
            <a:r>
              <a:rPr lang="en-US" sz="2250" b="1" dirty="0">
                <a:solidFill>
                  <a:srgbClr val="ECEFF2"/>
                </a:solidFill>
                <a:latin typeface="Space Grotesk" pitchFamily="34" charset="0"/>
                <a:ea typeface="Space Grotesk" pitchFamily="34" charset="-122"/>
                <a:cs typeface="Space Grotesk" pitchFamily="34" charset="-120"/>
              </a:rPr>
              <a:t>Canonical Comparison Systems</a:t>
            </a:r>
            <a:endParaRPr lang="en-US" sz="2250" dirty="0"/>
          </a:p>
        </p:txBody>
      </p:sp>
      <p:sp>
        <p:nvSpPr>
          <p:cNvPr id="16" name="Text 14"/>
          <p:cNvSpPr/>
          <p:nvPr/>
        </p:nvSpPr>
        <p:spPr>
          <a:xfrm>
            <a:off x="9572625" y="3909045"/>
            <a:ext cx="8193405" cy="238125"/>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007475"/>
                </a:solidFill>
                <a:latin typeface="IBM Plex Mono" pitchFamily="34" charset="0"/>
                <a:ea typeface="IBM Plex Mono" pitchFamily="34" charset="-122"/>
                <a:cs typeface="IBM Plex Mono" pitchFamily="34" charset="-120"/>
              </a:rPr>
              <a:t>POTENTIAL AREA OF REVIEW</a:t>
            </a:r>
            <a:endParaRPr lang="en-US" sz="1200" dirty="0"/>
          </a:p>
        </p:txBody>
      </p:sp>
      <p:sp>
        <p:nvSpPr>
          <p:cNvPr id="17" name="Text 15"/>
          <p:cNvSpPr/>
          <p:nvPr/>
        </p:nvSpPr>
        <p:spPr>
          <a:xfrm>
            <a:off x="9572625" y="4204320"/>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18" name="Text 16"/>
          <p:cNvSpPr/>
          <p:nvPr/>
        </p:nvSpPr>
        <p:spPr>
          <a:xfrm>
            <a:off x="9801225" y="4204320"/>
            <a:ext cx="5371846" cy="625748"/>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Comparison of heterogeneous entities through normalized representations.</a:t>
            </a:r>
            <a:endParaRPr lang="en-US" sz="1800" dirty="0"/>
          </a:p>
        </p:txBody>
      </p:sp>
      <p:sp>
        <p:nvSpPr>
          <p:cNvPr id="19" name="Text 17"/>
          <p:cNvSpPr/>
          <p:nvPr/>
        </p:nvSpPr>
        <p:spPr>
          <a:xfrm>
            <a:off x="9572625" y="4893841"/>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20" name="Text 18"/>
          <p:cNvSpPr/>
          <p:nvPr/>
        </p:nvSpPr>
        <p:spPr>
          <a:xfrm>
            <a:off x="9801225" y="4893841"/>
            <a:ext cx="5996668"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Resolution of relationships across different domains.</a:t>
            </a:r>
            <a:endParaRPr lang="en-US" sz="1800" dirty="0"/>
          </a:p>
        </p:txBody>
      </p:sp>
      <p:sp>
        <p:nvSpPr>
          <p:cNvPr id="21" name="Text 19"/>
          <p:cNvSpPr/>
          <p:nvPr/>
        </p:nvSpPr>
        <p:spPr>
          <a:xfrm>
            <a:off x="9572625" y="5286226"/>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22" name="Text 20"/>
          <p:cNvSpPr/>
          <p:nvPr/>
        </p:nvSpPr>
        <p:spPr>
          <a:xfrm>
            <a:off x="9801225" y="5286226"/>
            <a:ext cx="5126040" cy="625748"/>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Handling of unresolved comparison gaps and refinement opportunities.</a:t>
            </a:r>
            <a:endParaRPr lang="en-US" sz="1800" dirty="0"/>
          </a:p>
        </p:txBody>
      </p:sp>
      <p:sp>
        <p:nvSpPr>
          <p:cNvPr id="23" name="Shape 21"/>
          <p:cNvSpPr/>
          <p:nvPr/>
        </p:nvSpPr>
        <p:spPr>
          <a:xfrm>
            <a:off x="952500" y="6385322"/>
            <a:ext cx="8077200" cy="3033489"/>
          </a:xfrm>
          <a:prstGeom prst="roundRect">
            <a:avLst>
              <a:gd name="adj" fmla="val 1256"/>
            </a:avLst>
          </a:prstGeom>
          <a:solidFill>
            <a:srgbClr val="141B24"/>
          </a:solidFill>
          <a:ln w="9525">
            <a:solidFill>
              <a:srgbClr val="2C333D"/>
            </a:solidFill>
            <a:prstDash val="solid"/>
          </a:ln>
        </p:spPr>
      </p:sp>
      <p:sp>
        <p:nvSpPr>
          <p:cNvPr id="24" name="Text 22"/>
          <p:cNvSpPr/>
          <p:nvPr/>
        </p:nvSpPr>
        <p:spPr>
          <a:xfrm>
            <a:off x="1266825" y="6661547"/>
            <a:ext cx="8193405" cy="414338"/>
          </a:xfrm>
          <a:prstGeom prst="rect">
            <a:avLst/>
          </a:prstGeom>
          <a:noFill/>
          <a:ln/>
        </p:spPr>
        <p:txBody>
          <a:bodyPr wrap="square" lIns="25400" tIns="25400" rIns="25400" bIns="25400" rtlCol="0" anchor="t">
            <a:normAutofit/>
          </a:bodyPr>
          <a:lstStyle/>
          <a:p>
            <a:pPr algn="l" indent="0" marL="0">
              <a:buNone/>
            </a:pPr>
            <a:r>
              <a:rPr lang="en-US" sz="2250" b="1" dirty="0">
                <a:solidFill>
                  <a:srgbClr val="00D2D3"/>
                </a:solidFill>
                <a:latin typeface="IBM Plex Mono" pitchFamily="34" charset="0"/>
                <a:ea typeface="IBM Plex Mono" pitchFamily="34" charset="-122"/>
                <a:cs typeface="IBM Plex Mono" pitchFamily="34" charset="-120"/>
              </a:rPr>
              <a:t>3 </a:t>
            </a:r>
            <a:pPr algn="l" indent="0" marL="0">
              <a:buNone/>
            </a:pPr>
            <a:r>
              <a:rPr lang="en-US" sz="2250" b="1" dirty="0">
                <a:solidFill>
                  <a:srgbClr val="ECEFF2"/>
                </a:solidFill>
                <a:latin typeface="Space Grotesk" pitchFamily="34" charset="0"/>
                <a:ea typeface="Space Grotesk" pitchFamily="34" charset="-122"/>
                <a:cs typeface="Space Grotesk" pitchFamily="34" charset="-120"/>
              </a:rPr>
              <a:t>Decision Integrity Mechanisms</a:t>
            </a:r>
            <a:endParaRPr lang="en-US" sz="2250" dirty="0"/>
          </a:p>
        </p:txBody>
      </p:sp>
      <p:sp>
        <p:nvSpPr>
          <p:cNvPr id="25" name="Text 23"/>
          <p:cNvSpPr/>
          <p:nvPr/>
        </p:nvSpPr>
        <p:spPr>
          <a:xfrm>
            <a:off x="1266825" y="7171134"/>
            <a:ext cx="8193405" cy="238125"/>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007475"/>
                </a:solidFill>
                <a:latin typeface="IBM Plex Mono" pitchFamily="34" charset="0"/>
                <a:ea typeface="IBM Plex Mono" pitchFamily="34" charset="-122"/>
                <a:cs typeface="IBM Plex Mono" pitchFamily="34" charset="-120"/>
              </a:rPr>
              <a:t>POTENTIAL AREA OF REVIEW</a:t>
            </a:r>
            <a:endParaRPr lang="en-US" sz="1200" dirty="0"/>
          </a:p>
        </p:txBody>
      </p:sp>
      <p:sp>
        <p:nvSpPr>
          <p:cNvPr id="26" name="Text 24"/>
          <p:cNvSpPr/>
          <p:nvPr/>
        </p:nvSpPr>
        <p:spPr>
          <a:xfrm>
            <a:off x="1266825" y="7466409"/>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27" name="Text 25"/>
          <p:cNvSpPr/>
          <p:nvPr/>
        </p:nvSpPr>
        <p:spPr>
          <a:xfrm>
            <a:off x="1495425" y="7466409"/>
            <a:ext cx="4571810"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Non-compensating scoring approaches.</a:t>
            </a:r>
            <a:endParaRPr lang="en-US" sz="1800" dirty="0"/>
          </a:p>
        </p:txBody>
      </p:sp>
      <p:sp>
        <p:nvSpPr>
          <p:cNvPr id="28" name="Text 26"/>
          <p:cNvSpPr/>
          <p:nvPr/>
        </p:nvSpPr>
        <p:spPr>
          <a:xfrm>
            <a:off x="1266825" y="7858795"/>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29" name="Text 27"/>
          <p:cNvSpPr/>
          <p:nvPr/>
        </p:nvSpPr>
        <p:spPr>
          <a:xfrm>
            <a:off x="1495425" y="7858795"/>
            <a:ext cx="6004716" cy="625748"/>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Separation of validity qualification from downstream confidence scoring.</a:t>
            </a:r>
            <a:endParaRPr lang="en-US" sz="1800" dirty="0"/>
          </a:p>
        </p:txBody>
      </p:sp>
      <p:sp>
        <p:nvSpPr>
          <p:cNvPr id="30" name="Text 28"/>
          <p:cNvSpPr/>
          <p:nvPr/>
        </p:nvSpPr>
        <p:spPr>
          <a:xfrm>
            <a:off x="1266825" y="8548315"/>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31" name="Text 29"/>
          <p:cNvSpPr/>
          <p:nvPr/>
        </p:nvSpPr>
        <p:spPr>
          <a:xfrm>
            <a:off x="1495425" y="8548315"/>
            <a:ext cx="5858321" cy="625748"/>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Prevention of unsupported inputs being masked by stronger signals.</a:t>
            </a:r>
            <a:endParaRPr lang="en-US" sz="1800" dirty="0"/>
          </a:p>
        </p:txBody>
      </p:sp>
      <p:sp>
        <p:nvSpPr>
          <p:cNvPr id="32" name="Shape 30"/>
          <p:cNvSpPr/>
          <p:nvPr/>
        </p:nvSpPr>
        <p:spPr>
          <a:xfrm>
            <a:off x="9258300" y="6385322"/>
            <a:ext cx="8077200" cy="3033489"/>
          </a:xfrm>
          <a:prstGeom prst="roundRect">
            <a:avLst>
              <a:gd name="adj" fmla="val 1256"/>
            </a:avLst>
          </a:prstGeom>
          <a:solidFill>
            <a:srgbClr val="141B24"/>
          </a:solidFill>
          <a:ln w="9525">
            <a:solidFill>
              <a:srgbClr val="2C333D"/>
            </a:solidFill>
            <a:prstDash val="solid"/>
          </a:ln>
        </p:spPr>
      </p:sp>
      <p:sp>
        <p:nvSpPr>
          <p:cNvPr id="33" name="Text 31"/>
          <p:cNvSpPr/>
          <p:nvPr/>
        </p:nvSpPr>
        <p:spPr>
          <a:xfrm>
            <a:off x="9572625" y="6661547"/>
            <a:ext cx="8193405" cy="414338"/>
          </a:xfrm>
          <a:prstGeom prst="rect">
            <a:avLst/>
          </a:prstGeom>
          <a:noFill/>
          <a:ln/>
        </p:spPr>
        <p:txBody>
          <a:bodyPr wrap="square" lIns="25400" tIns="25400" rIns="25400" bIns="25400" rtlCol="0" anchor="t">
            <a:normAutofit/>
          </a:bodyPr>
          <a:lstStyle/>
          <a:p>
            <a:pPr algn="l" indent="0" marL="0">
              <a:buNone/>
            </a:pPr>
            <a:r>
              <a:rPr lang="en-US" sz="2250" b="1" dirty="0">
                <a:solidFill>
                  <a:srgbClr val="00D2D3"/>
                </a:solidFill>
                <a:latin typeface="IBM Plex Mono" pitchFamily="34" charset="0"/>
                <a:ea typeface="IBM Plex Mono" pitchFamily="34" charset="-122"/>
                <a:cs typeface="IBM Plex Mono" pitchFamily="34" charset="-120"/>
              </a:rPr>
              <a:t>4 </a:t>
            </a:r>
            <a:pPr algn="l" indent="0" marL="0">
              <a:buNone/>
            </a:pPr>
            <a:r>
              <a:rPr lang="en-US" sz="2250" b="1" dirty="0">
                <a:solidFill>
                  <a:srgbClr val="ECEFF2"/>
                </a:solidFill>
                <a:latin typeface="Space Grotesk" pitchFamily="34" charset="0"/>
                <a:ea typeface="Space Grotesk" pitchFamily="34" charset="-122"/>
                <a:cs typeface="Space Grotesk" pitchFamily="34" charset="-120"/>
              </a:rPr>
              <a:t>Knowledge Evolution Controls</a:t>
            </a:r>
            <a:endParaRPr lang="en-US" sz="2250" dirty="0"/>
          </a:p>
        </p:txBody>
      </p:sp>
      <p:sp>
        <p:nvSpPr>
          <p:cNvPr id="34" name="Text 32"/>
          <p:cNvSpPr/>
          <p:nvPr/>
        </p:nvSpPr>
        <p:spPr>
          <a:xfrm>
            <a:off x="9572625" y="7171134"/>
            <a:ext cx="8193405" cy="238125"/>
          </a:xfrm>
          <a:prstGeom prst="rect">
            <a:avLst/>
          </a:prstGeom>
          <a:noFill/>
          <a:ln/>
        </p:spPr>
        <p:txBody>
          <a:bodyPr wrap="square" lIns="25400" tIns="25400" rIns="25400" bIns="25400" rtlCol="0" anchor="t">
            <a:normAutofit/>
          </a:bodyPr>
          <a:lstStyle/>
          <a:p>
            <a:pPr algn="l" indent="0" marL="0">
              <a:buNone/>
            </a:pPr>
            <a:r>
              <a:rPr lang="en-US" sz="1200" spc="96" kern="0" dirty="0">
                <a:solidFill>
                  <a:srgbClr val="007475"/>
                </a:solidFill>
                <a:latin typeface="IBM Plex Mono" pitchFamily="34" charset="0"/>
                <a:ea typeface="IBM Plex Mono" pitchFamily="34" charset="-122"/>
                <a:cs typeface="IBM Plex Mono" pitchFamily="34" charset="-120"/>
              </a:rPr>
              <a:t>POTENTIAL AREA OF REVIEW</a:t>
            </a:r>
            <a:endParaRPr lang="en-US" sz="1200" dirty="0"/>
          </a:p>
        </p:txBody>
      </p:sp>
      <p:sp>
        <p:nvSpPr>
          <p:cNvPr id="35" name="Text 33"/>
          <p:cNvSpPr/>
          <p:nvPr/>
        </p:nvSpPr>
        <p:spPr>
          <a:xfrm>
            <a:off x="9572625" y="7466409"/>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36" name="Text 34"/>
          <p:cNvSpPr/>
          <p:nvPr/>
        </p:nvSpPr>
        <p:spPr>
          <a:xfrm>
            <a:off x="9801225" y="7466409"/>
            <a:ext cx="4476768"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Rules governing relationship admission.</a:t>
            </a:r>
            <a:endParaRPr lang="en-US" sz="1800" dirty="0"/>
          </a:p>
        </p:txBody>
      </p:sp>
      <p:sp>
        <p:nvSpPr>
          <p:cNvPr id="37" name="Text 35"/>
          <p:cNvSpPr/>
          <p:nvPr/>
        </p:nvSpPr>
        <p:spPr>
          <a:xfrm>
            <a:off x="9572625" y="7858795"/>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38" name="Text 36"/>
          <p:cNvSpPr/>
          <p:nvPr/>
        </p:nvSpPr>
        <p:spPr>
          <a:xfrm>
            <a:off x="9801225" y="7858795"/>
            <a:ext cx="4444040"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Qualification and escalation workflows.</a:t>
            </a:r>
            <a:endParaRPr lang="en-US" sz="1800" dirty="0"/>
          </a:p>
        </p:txBody>
      </p:sp>
      <p:sp>
        <p:nvSpPr>
          <p:cNvPr id="39" name="Text 37"/>
          <p:cNvSpPr/>
          <p:nvPr/>
        </p:nvSpPr>
        <p:spPr>
          <a:xfrm>
            <a:off x="9572625" y="8251180"/>
            <a:ext cx="284411" cy="335235"/>
          </a:xfrm>
          <a:prstGeom prst="rect">
            <a:avLst/>
          </a:prstGeom>
          <a:noFill/>
          <a:ln/>
        </p:spPr>
        <p:txBody>
          <a:bodyPr wrap="square" lIns="25400" tIns="25400" rIns="25400" bIns="25400" rtlCol="0" anchor="t">
            <a:normAutofit/>
          </a:bodyPr>
          <a:lstStyle/>
          <a:p>
            <a:pPr algn="l" indent="0" marL="0">
              <a:lnSpc>
                <a:spcPct val="102295"/>
              </a:lnSpc>
              <a:buNone/>
            </a:pPr>
            <a:r>
              <a:rPr lang="en-US" sz="1800" dirty="0">
                <a:solidFill>
                  <a:srgbClr val="00D2D3"/>
                </a:solidFill>
                <a:latin typeface="Space Grotesk" pitchFamily="34" charset="0"/>
                <a:ea typeface="Space Grotesk" pitchFamily="34" charset="-122"/>
                <a:cs typeface="Space Grotesk" pitchFamily="34" charset="-120"/>
              </a:rPr>
              <a:t>—</a:t>
            </a:r>
            <a:endParaRPr lang="en-US" sz="1800" dirty="0"/>
          </a:p>
        </p:txBody>
      </p:sp>
      <p:sp>
        <p:nvSpPr>
          <p:cNvPr id="40" name="Text 38"/>
          <p:cNvSpPr/>
          <p:nvPr/>
        </p:nvSpPr>
        <p:spPr>
          <a:xfrm>
            <a:off x="9801225" y="8251180"/>
            <a:ext cx="7136707" cy="328613"/>
          </a:xfrm>
          <a:prstGeom prst="rect">
            <a:avLst/>
          </a:prstGeom>
          <a:noFill/>
          <a:ln/>
        </p:spPr>
        <p:txBody>
          <a:bodyPr wrap="square" lIns="0" tIns="0" rIns="0" bIns="0" rtlCol="0" anchor="t">
            <a:normAutofit/>
          </a:bodyPr>
          <a:lstStyle/>
          <a:p>
            <a:pPr algn="l" indent="0" marL="0">
              <a:lnSpc>
                <a:spcPct val="102295"/>
              </a:lnSpc>
              <a:buNone/>
            </a:pPr>
            <a:r>
              <a:rPr lang="en-US" sz="1800" dirty="0">
                <a:solidFill>
                  <a:srgbClr val="9CA5B1"/>
                </a:solidFill>
                <a:latin typeface="Space Grotesk" pitchFamily="34" charset="0"/>
                <a:ea typeface="Space Grotesk" pitchFamily="34" charset="-122"/>
                <a:cs typeface="Space Grotesk" pitchFamily="34" charset="-120"/>
              </a:rPr>
              <a:t>Controlled evolution of structured knowledge representations.</a:t>
            </a:r>
            <a:endParaRPr lang="en-US" sz="1800" dirty="0"/>
          </a:p>
        </p:txBody>
      </p:sp>
      <p:sp>
        <p:nvSpPr>
          <p:cNvPr id="41" name="Shape 39"/>
          <p:cNvSpPr/>
          <p:nvPr/>
        </p:nvSpPr>
        <p:spPr>
          <a:xfrm>
            <a:off x="952500" y="9685511"/>
            <a:ext cx="16383000" cy="9525"/>
          </a:xfrm>
          <a:prstGeom prst="rect">
            <a:avLst/>
          </a:prstGeom>
          <a:solidFill>
            <a:srgbClr val="2C333D"/>
          </a:solidFill>
          <a:ln/>
        </p:spPr>
      </p:sp>
      <p:sp>
        <p:nvSpPr>
          <p:cNvPr id="42" name="Text 40"/>
          <p:cNvSpPr/>
          <p:nvPr/>
        </p:nvSpPr>
        <p:spPr>
          <a:xfrm>
            <a:off x="952500" y="9985549"/>
            <a:ext cx="1125513"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OBJECTIVE</a:t>
            </a:r>
            <a:endParaRPr lang="en-US" sz="1350" dirty="0"/>
          </a:p>
        </p:txBody>
      </p:sp>
      <p:sp>
        <p:nvSpPr>
          <p:cNvPr id="43" name="Text 41"/>
          <p:cNvSpPr/>
          <p:nvPr/>
        </p:nvSpPr>
        <p:spPr>
          <a:xfrm>
            <a:off x="2192313" y="9923636"/>
            <a:ext cx="15460779" cy="358080"/>
          </a:xfrm>
          <a:prstGeom prst="rect">
            <a:avLst/>
          </a:prstGeom>
          <a:noFill/>
          <a:ln/>
        </p:spPr>
        <p:txBody>
          <a:bodyPr wrap="square" lIns="25400" tIns="25400" rIns="25400" bIns="25400" rtlCol="0" anchor="t">
            <a:normAutofit/>
          </a:bodyPr>
          <a:lstStyle/>
          <a:p>
            <a:pPr algn="l" indent="0" marL="0">
              <a:lnSpc>
                <a:spcPct val="110164"/>
              </a:lnSpc>
              <a:buNone/>
            </a:pPr>
            <a:r>
              <a:rPr lang="en-US" sz="1800" dirty="0">
                <a:solidFill>
                  <a:srgbClr val="9CA5B1"/>
                </a:solidFill>
                <a:latin typeface="Space Grotesk" pitchFamily="34" charset="0"/>
                <a:ea typeface="Space Grotesk" pitchFamily="34" charset="-122"/>
                <a:cs typeface="Space Grotesk" pitchFamily="34" charset="-120"/>
              </a:rPr>
              <a:t>Identify the appropriate protection strategy across patent, trade secret, copyright, and defensive documentation approaches.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017"/>
        </a:solidFill>
      </p:bgPr>
    </p:bg>
    <p:spTree>
      <p:nvGrpSpPr>
        <p:cNvPr id="1" name=""/>
        <p:cNvGrpSpPr/>
        <p:nvPr/>
      </p:nvGrpSpPr>
      <p:grpSpPr>
        <a:xfrm>
          <a:off x="0" y="0"/>
          <a:ext cx="0" cy="0"/>
          <a:chOff x="0" y="0"/>
          <a:chExt cx="0" cy="0"/>
        </a:xfrm>
      </p:grpSpPr>
      <p:sp>
        <p:nvSpPr>
          <p:cNvPr id="2" name="Text 0"/>
          <p:cNvSpPr/>
          <p:nvPr/>
        </p:nvSpPr>
        <p:spPr>
          <a:xfrm>
            <a:off x="952500" y="952500"/>
            <a:ext cx="18021300"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00D2D3"/>
                </a:solidFill>
                <a:latin typeface="IBM Plex Mono" pitchFamily="34" charset="0"/>
                <a:ea typeface="IBM Plex Mono" pitchFamily="34" charset="-122"/>
                <a:cs typeface="IBM Plex Mono" pitchFamily="34" charset="-120"/>
              </a:rPr>
              <a:t>09 — RECORD</a:t>
            </a:r>
            <a:endParaRPr lang="en-US" sz="1500" dirty="0"/>
          </a:p>
        </p:txBody>
      </p:sp>
      <p:sp>
        <p:nvSpPr>
          <p:cNvPr id="3" name="Text 1"/>
          <p:cNvSpPr/>
          <p:nvPr/>
        </p:nvSpPr>
        <p:spPr>
          <a:xfrm>
            <a:off x="952500" y="1390650"/>
            <a:ext cx="18021300" cy="814388"/>
          </a:xfrm>
          <a:prstGeom prst="rect">
            <a:avLst/>
          </a:prstGeom>
          <a:noFill/>
          <a:ln/>
        </p:spPr>
        <p:txBody>
          <a:bodyPr wrap="square" lIns="25400" tIns="25400" rIns="25400" bIns="25400" rtlCol="0" anchor="t">
            <a:normAutofit/>
          </a:bodyPr>
          <a:lstStyle/>
          <a:p>
            <a:pPr algn="l" indent="0" marL="0">
              <a:buNone/>
            </a:pPr>
            <a:r>
              <a:rPr lang="en-US" sz="4800" b="1" spc="-48" kern="0" dirty="0">
                <a:solidFill>
                  <a:srgbClr val="ECEFF2"/>
                </a:solidFill>
                <a:latin typeface="Space Grotesk" pitchFamily="34" charset="0"/>
                <a:ea typeface="Space Grotesk" pitchFamily="34" charset="-122"/>
                <a:cs typeface="Space Grotesk" pitchFamily="34" charset="-120"/>
              </a:rPr>
              <a:t>Documentation &amp; Development Record</a:t>
            </a:r>
            <a:endParaRPr lang="en-US" sz="4800" dirty="0"/>
          </a:p>
        </p:txBody>
      </p:sp>
      <p:sp>
        <p:nvSpPr>
          <p:cNvPr id="4" name="Text 2"/>
          <p:cNvSpPr/>
          <p:nvPr/>
        </p:nvSpPr>
        <p:spPr>
          <a:xfrm>
            <a:off x="952500" y="2319338"/>
            <a:ext cx="18021300" cy="428625"/>
          </a:xfrm>
          <a:prstGeom prst="rect">
            <a:avLst/>
          </a:prstGeom>
          <a:noFill/>
          <a:ln/>
        </p:spPr>
        <p:txBody>
          <a:bodyPr wrap="square" lIns="25400" tIns="25400" rIns="25400" bIns="25400" rtlCol="0" anchor="t">
            <a:normAutofit/>
          </a:bodyPr>
          <a:lstStyle/>
          <a:p>
            <a:pPr algn="l" indent="0" marL="0">
              <a:buNone/>
            </a:pPr>
            <a:r>
              <a:rPr lang="en-US" sz="2400" dirty="0">
                <a:solidFill>
                  <a:srgbClr val="9CA5B1"/>
                </a:solidFill>
                <a:latin typeface="Space Grotesk" pitchFamily="34" charset="0"/>
                <a:ea typeface="Space Grotesk" pitchFamily="34" charset="-122"/>
                <a:cs typeface="Space Grotesk" pitchFamily="34" charset="-120"/>
              </a:rPr>
              <a:t>Engineering History and Traceability</a:t>
            </a:r>
            <a:endParaRPr lang="en-US" sz="2400" dirty="0"/>
          </a:p>
        </p:txBody>
      </p:sp>
      <p:sp>
        <p:nvSpPr>
          <p:cNvPr id="5" name="Text 3"/>
          <p:cNvSpPr/>
          <p:nvPr/>
        </p:nvSpPr>
        <p:spPr>
          <a:xfrm>
            <a:off x="952500" y="3128963"/>
            <a:ext cx="8262245"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MAINTAINED THROUGH</a:t>
            </a:r>
            <a:endParaRPr lang="en-US" sz="1350" dirty="0"/>
          </a:p>
        </p:txBody>
      </p:sp>
      <p:sp>
        <p:nvSpPr>
          <p:cNvPr id="6" name="Text 4"/>
          <p:cNvSpPr/>
          <p:nvPr/>
        </p:nvSpPr>
        <p:spPr>
          <a:xfrm>
            <a:off x="952500" y="3543300"/>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7" name="Text 5"/>
          <p:cNvSpPr/>
          <p:nvPr/>
        </p:nvSpPr>
        <p:spPr>
          <a:xfrm>
            <a:off x="1181100" y="3557588"/>
            <a:ext cx="2078682"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Technical design specifications</a:t>
            </a:r>
            <a:endParaRPr lang="en-US" sz="1950" dirty="0"/>
          </a:p>
        </p:txBody>
      </p:sp>
      <p:sp>
        <p:nvSpPr>
          <p:cNvPr id="8" name="Text 6"/>
          <p:cNvSpPr/>
          <p:nvPr/>
        </p:nvSpPr>
        <p:spPr>
          <a:xfrm>
            <a:off x="4822329" y="3543300"/>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9" name="Text 7"/>
          <p:cNvSpPr/>
          <p:nvPr/>
        </p:nvSpPr>
        <p:spPr>
          <a:xfrm>
            <a:off x="5050929" y="3557588"/>
            <a:ext cx="2223120"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High/low-level architecture docs</a:t>
            </a:r>
            <a:endParaRPr lang="en-US" sz="1950" dirty="0"/>
          </a:p>
        </p:txBody>
      </p:sp>
      <p:sp>
        <p:nvSpPr>
          <p:cNvPr id="10" name="Text 8"/>
          <p:cNvSpPr/>
          <p:nvPr/>
        </p:nvSpPr>
        <p:spPr>
          <a:xfrm>
            <a:off x="952500" y="4389090"/>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1" name="Text 9"/>
          <p:cNvSpPr/>
          <p:nvPr/>
        </p:nvSpPr>
        <p:spPr>
          <a:xfrm>
            <a:off x="1181100" y="4403378"/>
            <a:ext cx="2563341" cy="699120"/>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Product requirement documents</a:t>
            </a:r>
            <a:endParaRPr lang="en-US" sz="1950" dirty="0"/>
          </a:p>
        </p:txBody>
      </p:sp>
      <p:sp>
        <p:nvSpPr>
          <p:cNvPr id="12" name="Text 10"/>
          <p:cNvSpPr/>
          <p:nvPr/>
        </p:nvSpPr>
        <p:spPr>
          <a:xfrm>
            <a:off x="4822329" y="4389090"/>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3" name="Text 11"/>
          <p:cNvSpPr/>
          <p:nvPr/>
        </p:nvSpPr>
        <p:spPr>
          <a:xfrm>
            <a:off x="5050929" y="4403378"/>
            <a:ext cx="2985840" cy="352425"/>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Founder documentation</a:t>
            </a:r>
            <a:endParaRPr lang="en-US" sz="1950" dirty="0"/>
          </a:p>
        </p:txBody>
      </p:sp>
      <p:sp>
        <p:nvSpPr>
          <p:cNvPr id="14" name="Text 12"/>
          <p:cNvSpPr/>
          <p:nvPr/>
        </p:nvSpPr>
        <p:spPr>
          <a:xfrm>
            <a:off x="952500" y="5234880"/>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5" name="Text 13"/>
          <p:cNvSpPr/>
          <p:nvPr/>
        </p:nvSpPr>
        <p:spPr>
          <a:xfrm>
            <a:off x="1181100" y="5249168"/>
            <a:ext cx="2197968" cy="352425"/>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Investor materials</a:t>
            </a:r>
            <a:endParaRPr lang="en-US" sz="1950" dirty="0"/>
          </a:p>
        </p:txBody>
      </p:sp>
      <p:sp>
        <p:nvSpPr>
          <p:cNvPr id="16" name="Text 14"/>
          <p:cNvSpPr/>
          <p:nvPr/>
        </p:nvSpPr>
        <p:spPr>
          <a:xfrm>
            <a:off x="4822329" y="5234880"/>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7" name="Text 15"/>
          <p:cNvSpPr/>
          <p:nvPr/>
        </p:nvSpPr>
        <p:spPr>
          <a:xfrm>
            <a:off x="5050929" y="5249168"/>
            <a:ext cx="2978023" cy="352425"/>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Jira / work-order history</a:t>
            </a:r>
            <a:endParaRPr lang="en-US" sz="1950" dirty="0"/>
          </a:p>
        </p:txBody>
      </p:sp>
      <p:sp>
        <p:nvSpPr>
          <p:cNvPr id="18" name="Text 16"/>
          <p:cNvSpPr/>
          <p:nvPr/>
        </p:nvSpPr>
        <p:spPr>
          <a:xfrm>
            <a:off x="952500" y="5733976"/>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19" name="Text 17"/>
          <p:cNvSpPr/>
          <p:nvPr/>
        </p:nvSpPr>
        <p:spPr>
          <a:xfrm>
            <a:off x="1181100" y="5748263"/>
            <a:ext cx="1868388" cy="352425"/>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Defect records</a:t>
            </a:r>
            <a:endParaRPr lang="en-US" sz="1950" dirty="0"/>
          </a:p>
        </p:txBody>
      </p:sp>
      <p:sp>
        <p:nvSpPr>
          <p:cNvPr id="20" name="Text 18"/>
          <p:cNvSpPr/>
          <p:nvPr/>
        </p:nvSpPr>
        <p:spPr>
          <a:xfrm>
            <a:off x="4822329" y="5733976"/>
            <a:ext cx="301749" cy="384795"/>
          </a:xfrm>
          <a:prstGeom prst="rect">
            <a:avLst/>
          </a:prstGeom>
          <a:noFill/>
          <a:ln/>
        </p:spPr>
        <p:txBody>
          <a:bodyPr wrap="square" lIns="25400" tIns="25400" rIns="25400" bIns="25400" rtlCol="0" anchor="t">
            <a:normAutofit/>
          </a:bodyPr>
          <a:lstStyle/>
          <a:p>
            <a:pPr algn="l" indent="0" marL="0">
              <a:lnSpc>
                <a:spcPct val="110303"/>
              </a:lnSpc>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21" name="Text 19"/>
          <p:cNvSpPr/>
          <p:nvPr/>
        </p:nvSpPr>
        <p:spPr>
          <a:xfrm>
            <a:off x="5050929" y="5748263"/>
            <a:ext cx="3072374" cy="352425"/>
          </a:xfrm>
          <a:prstGeom prst="rect">
            <a:avLst/>
          </a:prstGeom>
          <a:noFill/>
          <a:ln/>
        </p:spPr>
        <p:txBody>
          <a:bodyPr wrap="square" lIns="0" tIns="0" rIns="0" bIns="0" rtlCol="0" anchor="t">
            <a:normAutofit/>
          </a:bodyPr>
          <a:lstStyle/>
          <a:p>
            <a:pPr algn="l" indent="0" marL="0">
              <a:lnSpc>
                <a:spcPct val="110303"/>
              </a:lnSpc>
              <a:buNone/>
            </a:pPr>
            <a:r>
              <a:rPr lang="en-US" sz="1950" dirty="0">
                <a:solidFill>
                  <a:srgbClr val="ECEFF2"/>
                </a:solidFill>
                <a:latin typeface="Space Grotesk" pitchFamily="34" charset="0"/>
                <a:ea typeface="Space Grotesk" pitchFamily="34" charset="-122"/>
                <a:cs typeface="Space Grotesk" pitchFamily="34" charset="-120"/>
              </a:rPr>
              <a:t>Implementation artifacts</a:t>
            </a:r>
            <a:endParaRPr lang="en-US" sz="1950" dirty="0"/>
          </a:p>
        </p:txBody>
      </p:sp>
      <p:sp>
        <p:nvSpPr>
          <p:cNvPr id="22" name="Shape 20"/>
          <p:cNvSpPr/>
          <p:nvPr/>
        </p:nvSpPr>
        <p:spPr>
          <a:xfrm>
            <a:off x="9073232" y="3128963"/>
            <a:ext cx="19050" cy="746671"/>
          </a:xfrm>
          <a:prstGeom prst="rect">
            <a:avLst/>
          </a:prstGeom>
          <a:solidFill>
            <a:srgbClr val="00D2D3"/>
          </a:solidFill>
          <a:ln/>
        </p:spPr>
      </p:sp>
      <p:sp>
        <p:nvSpPr>
          <p:cNvPr id="23" name="Text 21"/>
          <p:cNvSpPr/>
          <p:nvPr/>
        </p:nvSpPr>
        <p:spPr>
          <a:xfrm>
            <a:off x="9358982" y="3128963"/>
            <a:ext cx="8224386" cy="784771"/>
          </a:xfrm>
          <a:prstGeom prst="rect">
            <a:avLst/>
          </a:prstGeom>
          <a:noFill/>
          <a:ln/>
        </p:spPr>
        <p:txBody>
          <a:bodyPr wrap="square" lIns="25400" tIns="25400" rIns="25400" bIns="25400" rtlCol="0" anchor="t">
            <a:normAutofit/>
          </a:bodyPr>
          <a:lstStyle/>
          <a:p>
            <a:pPr algn="l" indent="0" marL="0">
              <a:lnSpc>
                <a:spcPct val="110423"/>
              </a:lnSpc>
              <a:buNone/>
            </a:pPr>
            <a:r>
              <a:rPr lang="en-US" sz="2100" i="1" dirty="0">
                <a:solidFill>
                  <a:srgbClr val="ECEFF2"/>
                </a:solidFill>
                <a:latin typeface="Space Grotesk" pitchFamily="34" charset="0"/>
                <a:ea typeface="Space Grotesk" pitchFamily="34" charset="-122"/>
                <a:cs typeface="Space Grotesk" pitchFamily="34" charset="-120"/>
              </a:rPr>
              <a:t>Every meaningful architectural change has a documented origin, rationale, implementation path, and validation record.</a:t>
            </a:r>
            <a:endParaRPr lang="en-US" sz="2100" dirty="0"/>
          </a:p>
        </p:txBody>
      </p:sp>
      <p:sp>
        <p:nvSpPr>
          <p:cNvPr id="24" name="Shape 22"/>
          <p:cNvSpPr/>
          <p:nvPr/>
        </p:nvSpPr>
        <p:spPr>
          <a:xfrm>
            <a:off x="9073232" y="4180433"/>
            <a:ext cx="8262268" cy="2986088"/>
          </a:xfrm>
          <a:prstGeom prst="roundRect">
            <a:avLst>
              <a:gd name="adj" fmla="val 1276"/>
            </a:avLst>
          </a:prstGeom>
          <a:solidFill>
            <a:srgbClr val="141B24"/>
          </a:solidFill>
          <a:ln w="9525">
            <a:solidFill>
              <a:srgbClr val="2C333D"/>
            </a:solidFill>
            <a:prstDash val="solid"/>
          </a:ln>
        </p:spPr>
      </p:sp>
      <p:sp>
        <p:nvSpPr>
          <p:cNvPr id="25" name="Text 23"/>
          <p:cNvSpPr/>
          <p:nvPr/>
        </p:nvSpPr>
        <p:spPr>
          <a:xfrm>
            <a:off x="9425657" y="4494758"/>
            <a:ext cx="8313160" cy="261937"/>
          </a:xfrm>
          <a:prstGeom prst="rect">
            <a:avLst/>
          </a:prstGeom>
          <a:noFill/>
          <a:ln/>
        </p:spPr>
        <p:txBody>
          <a:bodyPr wrap="square" lIns="25400" tIns="25400" rIns="25400" bIns="25400" rtlCol="0" anchor="t">
            <a:normAutofit/>
          </a:bodyPr>
          <a:lstStyle/>
          <a:p>
            <a:pPr algn="l" indent="0" marL="0">
              <a:buNone/>
            </a:pPr>
            <a:r>
              <a:rPr lang="en-US" sz="1350" spc="108" kern="0" dirty="0">
                <a:solidFill>
                  <a:srgbClr val="00D2D3"/>
                </a:solidFill>
                <a:latin typeface="IBM Plex Mono" pitchFamily="34" charset="0"/>
                <a:ea typeface="IBM Plex Mono" pitchFamily="34" charset="-122"/>
                <a:cs typeface="IBM Plex Mono" pitchFamily="34" charset="-120"/>
              </a:rPr>
              <a:t>OBJECTIVE FOR IP REVIEW</a:t>
            </a:r>
            <a:endParaRPr lang="en-US" sz="1350" dirty="0"/>
          </a:p>
        </p:txBody>
      </p:sp>
      <p:sp>
        <p:nvSpPr>
          <p:cNvPr id="26" name="Text 24"/>
          <p:cNvSpPr/>
          <p:nvPr/>
        </p:nvSpPr>
        <p:spPr>
          <a:xfrm>
            <a:off x="9425657" y="4890046"/>
            <a:ext cx="8313160" cy="304800"/>
          </a:xfrm>
          <a:prstGeom prst="rect">
            <a:avLst/>
          </a:prstGeom>
          <a:noFill/>
          <a:ln/>
        </p:spPr>
        <p:txBody>
          <a:bodyPr wrap="square" lIns="25400" tIns="25400" rIns="25400" bIns="25400" rtlCol="0" anchor="t">
            <a:normAutofit/>
          </a:bodyPr>
          <a:lstStyle/>
          <a:p>
            <a:pPr algn="l" indent="0" marL="0">
              <a:buNone/>
            </a:pPr>
            <a:r>
              <a:rPr lang="en-US" sz="1650" dirty="0">
                <a:solidFill>
                  <a:srgbClr val="9CA5B1"/>
                </a:solidFill>
                <a:latin typeface="Space Grotesk" pitchFamily="34" charset="0"/>
                <a:ea typeface="Space Grotesk" pitchFamily="34" charset="-122"/>
                <a:cs typeface="Space Grotesk" pitchFamily="34" charset="-120"/>
              </a:rPr>
              <a:t>Determine the strongest protection strategy across:</a:t>
            </a:r>
            <a:endParaRPr lang="en-US" sz="1650" dirty="0"/>
          </a:p>
        </p:txBody>
      </p:sp>
      <p:sp>
        <p:nvSpPr>
          <p:cNvPr id="27" name="Text 25"/>
          <p:cNvSpPr/>
          <p:nvPr/>
        </p:nvSpPr>
        <p:spPr>
          <a:xfrm>
            <a:off x="9425657" y="5309146"/>
            <a:ext cx="301749" cy="352425"/>
          </a:xfrm>
          <a:prstGeom prst="rect">
            <a:avLst/>
          </a:prstGeom>
          <a:noFill/>
          <a:ln/>
        </p:spPr>
        <p:txBody>
          <a:bodyPr wrap="square" lIns="25400" tIns="25400" rIns="25400" bIns="25400" rtlCol="0" anchor="t">
            <a:normAutofit/>
          </a:bodyPr>
          <a:lstStyle/>
          <a:p>
            <a:pPr algn="l" indent="0" marL="0">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28" name="Text 26"/>
          <p:cNvSpPr/>
          <p:nvPr/>
        </p:nvSpPr>
        <p:spPr>
          <a:xfrm>
            <a:off x="9654257" y="5309146"/>
            <a:ext cx="2586782" cy="352425"/>
          </a:xfrm>
          <a:prstGeom prst="rect">
            <a:avLst/>
          </a:prstGeom>
          <a:noFill/>
          <a:ln/>
        </p:spPr>
        <p:txBody>
          <a:bodyPr wrap="square" lIns="0" tIns="0" rIns="0" bIns="0" rtlCol="0" anchor="t">
            <a:normAutofit/>
          </a:bodyPr>
          <a:lstStyle/>
          <a:p>
            <a:pPr algn="l" indent="0" marL="0">
              <a:buNone/>
            </a:pPr>
            <a:r>
              <a:rPr lang="en-US" sz="1950" dirty="0">
                <a:solidFill>
                  <a:srgbClr val="ECEFF2"/>
                </a:solidFill>
                <a:latin typeface="Space Grotesk" pitchFamily="34" charset="0"/>
                <a:ea typeface="Space Grotesk" pitchFamily="34" charset="-122"/>
                <a:cs typeface="Space Grotesk" pitchFamily="34" charset="-120"/>
              </a:rPr>
              <a:t>Patent opportunities</a:t>
            </a:r>
            <a:endParaRPr lang="en-US" sz="1950" dirty="0"/>
          </a:p>
        </p:txBody>
      </p:sp>
      <p:sp>
        <p:nvSpPr>
          <p:cNvPr id="29" name="Text 27"/>
          <p:cNvSpPr/>
          <p:nvPr/>
        </p:nvSpPr>
        <p:spPr>
          <a:xfrm>
            <a:off x="9425657" y="5718721"/>
            <a:ext cx="301749" cy="352425"/>
          </a:xfrm>
          <a:prstGeom prst="rect">
            <a:avLst/>
          </a:prstGeom>
          <a:noFill/>
          <a:ln/>
        </p:spPr>
        <p:txBody>
          <a:bodyPr wrap="square" lIns="25400" tIns="25400" rIns="25400" bIns="25400" rtlCol="0" anchor="t">
            <a:normAutofit/>
          </a:bodyPr>
          <a:lstStyle/>
          <a:p>
            <a:pPr algn="l" indent="0" marL="0">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30" name="Text 28"/>
          <p:cNvSpPr/>
          <p:nvPr/>
        </p:nvSpPr>
        <p:spPr>
          <a:xfrm>
            <a:off x="9654257" y="5718721"/>
            <a:ext cx="1701105" cy="352425"/>
          </a:xfrm>
          <a:prstGeom prst="rect">
            <a:avLst/>
          </a:prstGeom>
          <a:noFill/>
          <a:ln/>
        </p:spPr>
        <p:txBody>
          <a:bodyPr wrap="square" lIns="0" tIns="0" rIns="0" bIns="0" rtlCol="0" anchor="t">
            <a:normAutofit/>
          </a:bodyPr>
          <a:lstStyle/>
          <a:p>
            <a:pPr algn="l" indent="0" marL="0">
              <a:buNone/>
            </a:pPr>
            <a:r>
              <a:rPr lang="en-US" sz="1950" dirty="0">
                <a:solidFill>
                  <a:srgbClr val="ECEFF2"/>
                </a:solidFill>
                <a:latin typeface="Space Grotesk" pitchFamily="34" charset="0"/>
                <a:ea typeface="Space Grotesk" pitchFamily="34" charset="-122"/>
                <a:cs typeface="Space Grotesk" pitchFamily="34" charset="-120"/>
              </a:rPr>
              <a:t>Trade secrets</a:t>
            </a:r>
            <a:endParaRPr lang="en-US" sz="1950" dirty="0"/>
          </a:p>
        </p:txBody>
      </p:sp>
      <p:sp>
        <p:nvSpPr>
          <p:cNvPr id="31" name="Text 29"/>
          <p:cNvSpPr/>
          <p:nvPr/>
        </p:nvSpPr>
        <p:spPr>
          <a:xfrm>
            <a:off x="9425657" y="6128296"/>
            <a:ext cx="301749" cy="352425"/>
          </a:xfrm>
          <a:prstGeom prst="rect">
            <a:avLst/>
          </a:prstGeom>
          <a:noFill/>
          <a:ln/>
        </p:spPr>
        <p:txBody>
          <a:bodyPr wrap="square" lIns="25400" tIns="25400" rIns="25400" bIns="25400" rtlCol="0" anchor="t">
            <a:normAutofit/>
          </a:bodyPr>
          <a:lstStyle/>
          <a:p>
            <a:pPr algn="l" indent="0" marL="0">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32" name="Text 30"/>
          <p:cNvSpPr/>
          <p:nvPr/>
        </p:nvSpPr>
        <p:spPr>
          <a:xfrm>
            <a:off x="9654257" y="6128296"/>
            <a:ext cx="2734210" cy="352425"/>
          </a:xfrm>
          <a:prstGeom prst="rect">
            <a:avLst/>
          </a:prstGeom>
          <a:noFill/>
          <a:ln/>
        </p:spPr>
        <p:txBody>
          <a:bodyPr wrap="square" lIns="0" tIns="0" rIns="0" bIns="0" rtlCol="0" anchor="t">
            <a:normAutofit/>
          </a:bodyPr>
          <a:lstStyle/>
          <a:p>
            <a:pPr algn="l" indent="0" marL="0">
              <a:buNone/>
            </a:pPr>
            <a:r>
              <a:rPr lang="en-US" sz="1950" dirty="0">
                <a:solidFill>
                  <a:srgbClr val="ECEFF2"/>
                </a:solidFill>
                <a:latin typeface="Space Grotesk" pitchFamily="34" charset="0"/>
                <a:ea typeface="Space Grotesk" pitchFamily="34" charset="-122"/>
                <a:cs typeface="Space Grotesk" pitchFamily="34" charset="-120"/>
              </a:rPr>
              <a:t>Copyrighted materials</a:t>
            </a:r>
            <a:endParaRPr lang="en-US" sz="1950" dirty="0"/>
          </a:p>
        </p:txBody>
      </p:sp>
      <p:sp>
        <p:nvSpPr>
          <p:cNvPr id="33" name="Text 31"/>
          <p:cNvSpPr/>
          <p:nvPr/>
        </p:nvSpPr>
        <p:spPr>
          <a:xfrm>
            <a:off x="9425657" y="6537871"/>
            <a:ext cx="301749" cy="352425"/>
          </a:xfrm>
          <a:prstGeom prst="rect">
            <a:avLst/>
          </a:prstGeom>
          <a:noFill/>
          <a:ln/>
        </p:spPr>
        <p:txBody>
          <a:bodyPr wrap="square" lIns="25400" tIns="25400" rIns="25400" bIns="25400" rtlCol="0" anchor="t">
            <a:normAutofit/>
          </a:bodyPr>
          <a:lstStyle/>
          <a:p>
            <a:pPr algn="l" indent="0" marL="0">
              <a:buNone/>
            </a:pPr>
            <a:r>
              <a:rPr lang="en-US" sz="1950" dirty="0">
                <a:solidFill>
                  <a:srgbClr val="00D2D3"/>
                </a:solidFill>
                <a:latin typeface="Space Grotesk" pitchFamily="34" charset="0"/>
                <a:ea typeface="Space Grotesk" pitchFamily="34" charset="-122"/>
                <a:cs typeface="Space Grotesk" pitchFamily="34" charset="-120"/>
              </a:rPr>
              <a:t>—</a:t>
            </a:r>
            <a:endParaRPr lang="en-US" sz="1950" dirty="0"/>
          </a:p>
        </p:txBody>
      </p:sp>
      <p:sp>
        <p:nvSpPr>
          <p:cNvPr id="34" name="Text 32"/>
          <p:cNvSpPr/>
          <p:nvPr/>
        </p:nvSpPr>
        <p:spPr>
          <a:xfrm>
            <a:off x="9654257" y="6537871"/>
            <a:ext cx="3177610" cy="352425"/>
          </a:xfrm>
          <a:prstGeom prst="rect">
            <a:avLst/>
          </a:prstGeom>
          <a:noFill/>
          <a:ln/>
        </p:spPr>
        <p:txBody>
          <a:bodyPr wrap="square" lIns="0" tIns="0" rIns="0" bIns="0" rtlCol="0" anchor="t">
            <a:normAutofit/>
          </a:bodyPr>
          <a:lstStyle/>
          <a:p>
            <a:pPr algn="l" indent="0" marL="0">
              <a:buNone/>
            </a:pPr>
            <a:r>
              <a:rPr lang="en-US" sz="1950" dirty="0">
                <a:solidFill>
                  <a:srgbClr val="ECEFF2"/>
                </a:solidFill>
                <a:latin typeface="Space Grotesk" pitchFamily="34" charset="0"/>
                <a:ea typeface="Space Grotesk" pitchFamily="34" charset="-122"/>
                <a:cs typeface="Space Grotesk" pitchFamily="34" charset="-120"/>
              </a:rPr>
              <a:t>Defensive documentation</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2026-08-14T10:00:28Z</dcterms:created>
  <dcterms:modified xsi:type="dcterms:W3CDTF">2026-08-14T10:00:28Z</dcterms:modified>
</cp:coreProperties>
</file>